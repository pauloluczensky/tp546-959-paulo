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339" r:id="rId4"/>
    <p:sldId id="258" r:id="rId5"/>
    <p:sldId id="291" r:id="rId6"/>
    <p:sldId id="336" r:id="rId7"/>
    <p:sldId id="337" r:id="rId8"/>
    <p:sldId id="338" r:id="rId9"/>
    <p:sldId id="340" r:id="rId10"/>
    <p:sldId id="259" r:id="rId11"/>
    <p:sldId id="341" r:id="rId12"/>
    <p:sldId id="342" r:id="rId13"/>
    <p:sldId id="352" r:id="rId14"/>
    <p:sldId id="350" r:id="rId15"/>
    <p:sldId id="348" r:id="rId16"/>
    <p:sldId id="349" r:id="rId17"/>
    <p:sldId id="344" r:id="rId18"/>
    <p:sldId id="351" r:id="rId19"/>
    <p:sldId id="347" r:id="rId20"/>
    <p:sldId id="343" r:id="rId21"/>
    <p:sldId id="276" r:id="rId22"/>
    <p:sldId id="334" r:id="rId23"/>
    <p:sldId id="278" r:id="rId24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1025352-0C00-5B8A-DB7B-41CB2056D49A}" name="Paulo Otávio Luczensky de Souza" initials="PS" userId="S::paulo.souza@mtel.inatel.br::b8948cef-2d55-4fb8-a0a2-9ef1265743d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aulo Souza" initials="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3FBB74-29AD-A670-DB37-1302C9FB9E8E}" v="67" dt="2025-11-29T19:29:30.515"/>
    <p1510:client id="{3C54288A-111D-9042-EB25-431772EF897B}" v="118" dt="2025-11-30T13:17:15.260"/>
    <p1510:client id="{AB730D3D-2F3F-9A0E-BECA-8FF949A83DE5}" v="2" dt="2025-11-28T23:49:41.245"/>
    <p1510:client id="{B1736B37-153F-B73E-3BD2-91E326014072}" v="774" dt="2025-11-28T23:53:42.7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5" y="1"/>
            <a:ext cx="3169922" cy="1903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625" tIns="84300" rIns="168625" bIns="843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92" y="1"/>
            <a:ext cx="3169922" cy="1903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625" tIns="84300" rIns="168625" bIns="843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625" tIns="84300" rIns="168625" bIns="843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5" y="36027558"/>
            <a:ext cx="3169922" cy="190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625" tIns="84300" rIns="168625" bIns="843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625" tIns="84300" rIns="168625" bIns="843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625" tIns="84300" rIns="168625" bIns="843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A1335AB0-9323-78EB-7A64-7EE50B97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EEBD6504-AB63-484D-31D6-4B1D9DE4B2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DC64755-5E71-F70E-1BB9-48880ECEE0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0323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b3574db39_0_12:notes"/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0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7b3574db3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3CB9F3A0-87D2-E6D5-8FCE-E5F3FD62F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43DCB4C1-7FF6-7267-E015-4804BDF8C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70CF86B-CEE2-1E84-2DDF-1D1BC33E73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2155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F9B9FC5-D79D-3161-E9AC-51471E466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D67B9A44-1970-FA6B-61A2-AC680A6D00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30FDFCA-CD7C-80EF-0E37-6DF7B2B1BD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9852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9040A3BC-63B3-B8DF-85C8-1642855EB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0629D9CA-BC8E-DDE4-1DA7-D1634FF8E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7D848CC-3C56-F95B-CBA5-44E1D7CE3E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5626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48BB9C8-1F40-F59F-143A-C1C88FF01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5FE6F390-0DC3-26DC-76C0-3C7C4A4ED3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FC3F607-61CD-31C8-067D-C65A1609B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9281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8862B2FE-055E-585F-A9CB-F70CAA242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33FA7CBD-E7C6-6E55-F3CB-18399E12BC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861AE4D-E8DD-496C-9B28-66E24DD21E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4030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BE8051B1-3401-1218-907E-B642D04A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>
            <a:extLst>
              <a:ext uri="{FF2B5EF4-FFF2-40B4-BE49-F238E27FC236}">
                <a16:creationId xmlns:a16="http://schemas.microsoft.com/office/drawing/2014/main" id="{6A326BD9-BF8C-4F1A-4AD6-B0D3C82E0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:notes">
            <a:extLst>
              <a:ext uri="{FF2B5EF4-FFF2-40B4-BE49-F238E27FC236}">
                <a16:creationId xmlns:a16="http://schemas.microsoft.com/office/drawing/2014/main" id="{03C1D08E-0FDE-484D-66F6-4B893F33D5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31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9BADE1DB-F7E1-4781-ECBB-944AA4713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>
            <a:extLst>
              <a:ext uri="{FF2B5EF4-FFF2-40B4-BE49-F238E27FC236}">
                <a16:creationId xmlns:a16="http://schemas.microsoft.com/office/drawing/2014/main" id="{99293C9E-D58A-E8D1-B1BE-A23D37E2D9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:notes">
            <a:extLst>
              <a:ext uri="{FF2B5EF4-FFF2-40B4-BE49-F238E27FC236}">
                <a16:creationId xmlns:a16="http://schemas.microsoft.com/office/drawing/2014/main" id="{707B83E3-A2E0-F5D9-78FC-7A6C7B41AF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27189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A8A82CAA-93D9-5A9E-CA7C-8E3AD7423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>
            <a:extLst>
              <a:ext uri="{FF2B5EF4-FFF2-40B4-BE49-F238E27FC236}">
                <a16:creationId xmlns:a16="http://schemas.microsoft.com/office/drawing/2014/main" id="{6B532090-BC93-EA9C-9536-854988DE14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:notes">
            <a:extLst>
              <a:ext uri="{FF2B5EF4-FFF2-40B4-BE49-F238E27FC236}">
                <a16:creationId xmlns:a16="http://schemas.microsoft.com/office/drawing/2014/main" id="{E3D4AE85-0A26-16C9-EA4E-883C35061C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93938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C46E1603-BAD6-21AE-B07F-BC24B236D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>
            <a:extLst>
              <a:ext uri="{FF2B5EF4-FFF2-40B4-BE49-F238E27FC236}">
                <a16:creationId xmlns:a16="http://schemas.microsoft.com/office/drawing/2014/main" id="{2905C60F-3F9B-02B2-94D2-4F46ECE83E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:notes">
            <a:extLst>
              <a:ext uri="{FF2B5EF4-FFF2-40B4-BE49-F238E27FC236}">
                <a16:creationId xmlns:a16="http://schemas.microsoft.com/office/drawing/2014/main" id="{CC254A66-BC57-B8CA-8C8B-D6A97B15D5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54260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4245818B-E2A0-F8A7-6817-E564F217A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>
            <a:extLst>
              <a:ext uri="{FF2B5EF4-FFF2-40B4-BE49-F238E27FC236}">
                <a16:creationId xmlns:a16="http://schemas.microsoft.com/office/drawing/2014/main" id="{0EDFCECE-BC55-5DF1-7CEA-ABD38AF87F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:notes">
            <a:extLst>
              <a:ext uri="{FF2B5EF4-FFF2-40B4-BE49-F238E27FC236}">
                <a16:creationId xmlns:a16="http://schemas.microsoft.com/office/drawing/2014/main" id="{A010FA17-7F67-33EC-8F57-0F75EB7B9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5866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>
          <a:extLst>
            <a:ext uri="{FF2B5EF4-FFF2-40B4-BE49-F238E27FC236}">
              <a16:creationId xmlns:a16="http://schemas.microsoft.com/office/drawing/2014/main" id="{AA16B3BE-507D-F792-A04A-E7ABB0182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>
            <a:extLst>
              <a:ext uri="{FF2B5EF4-FFF2-40B4-BE49-F238E27FC236}">
                <a16:creationId xmlns:a16="http://schemas.microsoft.com/office/drawing/2014/main" id="{C3FD854C-E36D-5C9F-D10C-B387D3B86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:notes">
            <a:extLst>
              <a:ext uri="{FF2B5EF4-FFF2-40B4-BE49-F238E27FC236}">
                <a16:creationId xmlns:a16="http://schemas.microsoft.com/office/drawing/2014/main" id="{2C75A62D-5455-5CF2-D51E-29353CC492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93191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spcFirstLastPara="1" wrap="square" lIns="168625" tIns="84300" rIns="168625" bIns="84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br/pt-br/noticias/agricultura-e-pecuaria/2021/03/participacao-brasileira-saltou-de-us-20-6-bilhoes-para-us-100-bilhoes/populacao-alimentada-pelo-brasil.pdf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966440" y="420222"/>
            <a:ext cx="10268414" cy="2578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>
              <a:buSzPct val="100000"/>
            </a:pPr>
            <a:r>
              <a:rPr lang="pt-BR" sz="5400"/>
              <a:t>TP546 – IoT e Redes Veiculares:</a:t>
            </a:r>
            <a:br>
              <a:rPr lang="pt-BR"/>
            </a:br>
            <a:r>
              <a:rPr lang="pt-BR" b="1" i="1"/>
              <a:t>Redes Veiculares com Drones para detecção de Estresse Hídrico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7915801" y="5780602"/>
            <a:ext cx="400434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pt-BR" sz="2000">
                <a:solidFill>
                  <a:schemeClr val="dk1"/>
                </a:solidFill>
                <a:latin typeface="Calibri"/>
                <a:ea typeface="Calibri"/>
              </a:rPr>
              <a:t>Eduardo Costa Resende</a:t>
            </a:r>
            <a:endParaRPr lang="pt-BR">
              <a:solidFill>
                <a:schemeClr val="dk1"/>
              </a:solidFill>
              <a:latin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Paulo Otavio </a:t>
            </a:r>
            <a:r>
              <a:rPr lang="pt-BR" sz="200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Luczensky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Souza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1" name="Google Shape;91;p13" descr="Logo"/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 result for machine learning"/>
          <p:cNvPicPr preferRelativeResize="0"/>
          <p:nvPr/>
        </p:nvPicPr>
        <p:blipFill rotWithShape="1">
          <a:blip r:embed="rId4">
            <a:alphaModFix/>
          </a:blip>
          <a:srcRect l="20193" t="8107" r="14530" b="5794"/>
          <a:stretch/>
        </p:blipFill>
        <p:spPr>
          <a:xfrm>
            <a:off x="4965305" y="3439886"/>
            <a:ext cx="2261389" cy="2237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838200" y="233045"/>
            <a:ext cx="10495280" cy="64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3600"/>
              <a:t>Introdução</a:t>
            </a:r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416643C6-FD95-7A76-007C-00D8897796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83146" y="5882202"/>
            <a:ext cx="1824508" cy="5755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19EB5F-DA11-FC52-718F-79FEC8EFC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5333"/>
            <a:ext cx="10497015" cy="4685874"/>
          </a:xfrm>
        </p:spPr>
        <p:txBody>
          <a:bodyPr>
            <a:normAutofit/>
          </a:bodyPr>
          <a:lstStyle/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316E2C0-EB08-CDE0-5F60-D2FB01FA4D3A}"/>
              </a:ext>
            </a:extLst>
          </p:cNvPr>
          <p:cNvSpPr txBox="1"/>
          <p:nvPr/>
        </p:nvSpPr>
        <p:spPr>
          <a:xfrm>
            <a:off x="838200" y="877570"/>
            <a:ext cx="10497820" cy="58477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Char char="•"/>
            </a:pPr>
            <a:r>
              <a:rPr lang="en-US" sz="2000">
                <a:latin typeface="Calibri"/>
                <a:ea typeface="YAFcfhdOoGk_0"/>
                <a:cs typeface="YAFcfhdOoGk_0"/>
              </a:rPr>
              <a:t>O </a:t>
            </a:r>
            <a:r>
              <a:rPr lang="en-US" sz="2000" err="1">
                <a:latin typeface="Calibri"/>
                <a:ea typeface="YAFcfhdOoGk_0"/>
                <a:cs typeface="YAFcfhdOoGk_0"/>
              </a:rPr>
              <a:t>Brasil</a:t>
            </a:r>
            <a:r>
              <a:rPr lang="en-US" sz="2000">
                <a:latin typeface="Calibri"/>
                <a:ea typeface="YAFcfhdOoGk_0"/>
                <a:cs typeface="YAFcfhdOoGk_0"/>
              </a:rPr>
              <a:t> é um dos </a:t>
            </a:r>
            <a:r>
              <a:rPr lang="en-US" sz="2000" err="1">
                <a:latin typeface="Calibri"/>
                <a:ea typeface="YAFcfhdOoGk_0"/>
                <a:cs typeface="YAFcfhdOoGk_0"/>
              </a:rPr>
              <a:t>principais</a:t>
            </a:r>
            <a:r>
              <a:rPr lang="en-US" sz="2000">
                <a:latin typeface="Calibri"/>
                <a:ea typeface="YAFcfhdOoGk_0"/>
                <a:cs typeface="YAFcfhdOoGk_0"/>
              </a:rPr>
              <a:t> </a:t>
            </a:r>
            <a:r>
              <a:rPr lang="en-US" sz="2000" b="1" err="1">
                <a:latin typeface="Calibri"/>
                <a:ea typeface="YAFcfhdOoGk_0"/>
                <a:cs typeface="YAFcfhdOoGk_0"/>
              </a:rPr>
              <a:t>produtores</a:t>
            </a:r>
            <a:r>
              <a:rPr lang="en-US" sz="2000">
                <a:latin typeface="Calibri"/>
                <a:ea typeface="YAFcfhdOoGk_0"/>
                <a:cs typeface="YAFcfhdOoGk_0"/>
              </a:rPr>
              <a:t> e </a:t>
            </a:r>
            <a:r>
              <a:rPr lang="en-US" sz="2000" b="1" err="1">
                <a:latin typeface="Calibri"/>
                <a:ea typeface="YAFcfhdOoGk_0"/>
                <a:cs typeface="YAFcfhdOoGk_0"/>
              </a:rPr>
              <a:t>exportadores</a:t>
            </a:r>
            <a:r>
              <a:rPr lang="en-US" sz="2000">
                <a:latin typeface="Calibri"/>
                <a:ea typeface="YAFcfhdOoGk_0"/>
                <a:cs typeface="YAFcfhdOoGk_0"/>
              </a:rPr>
              <a:t> </a:t>
            </a:r>
            <a:r>
              <a:rPr lang="en-US" sz="2000" err="1">
                <a:latin typeface="Calibri"/>
                <a:ea typeface="YAFcfhdOoGk_0"/>
                <a:cs typeface="YAFcfhdOoGk_0"/>
              </a:rPr>
              <a:t>agrícolas</a:t>
            </a:r>
            <a:r>
              <a:rPr lang="en-US" sz="2000">
                <a:latin typeface="Calibri"/>
                <a:ea typeface="YAFcfhdOoGk_0"/>
                <a:cs typeface="YAFcfhdOoGk_0"/>
              </a:rPr>
              <a:t> do </a:t>
            </a:r>
            <a:r>
              <a:rPr lang="en-US" sz="2000" err="1">
                <a:latin typeface="Calibri"/>
                <a:ea typeface="YAFcfhdOoGk_0"/>
                <a:cs typeface="YAFcfhdOoGk_0"/>
              </a:rPr>
              <a:t>mundo</a:t>
            </a:r>
            <a:r>
              <a:rPr lang="en-US" sz="2000">
                <a:latin typeface="Calibri"/>
                <a:ea typeface="YAFcfhdOoGk_0"/>
                <a:cs typeface="YAFcfhdOoGk_0"/>
              </a:rPr>
              <a:t>.</a:t>
            </a:r>
            <a:endParaRPr lang="pt-BR">
              <a:latin typeface="Calibri"/>
            </a:endParaRPr>
          </a:p>
          <a:p>
            <a:pPr marL="342900" indent="-342900" algn="just">
              <a:buChar char="•"/>
            </a:pPr>
            <a:endParaRPr lang="en-US" sz="2000">
              <a:latin typeface="Calibri"/>
            </a:endParaRPr>
          </a:p>
          <a:p>
            <a:pPr marL="800100" lvl="1" indent="-342900" algn="just">
              <a:buFont typeface="Courier New"/>
              <a:buChar char="o"/>
            </a:pPr>
            <a:r>
              <a:rPr lang="en-US" sz="2000">
                <a:latin typeface="Calibri"/>
              </a:rPr>
              <a:t>Em 2020, a FAO </a:t>
            </a:r>
            <a:r>
              <a:rPr lang="en-US" sz="2000" err="1">
                <a:latin typeface="Calibri"/>
              </a:rPr>
              <a:t>indicou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que</a:t>
            </a:r>
            <a:r>
              <a:rPr lang="en-US" sz="2000">
                <a:latin typeface="Calibri"/>
              </a:rPr>
              <a:t> o </a:t>
            </a:r>
            <a:r>
              <a:rPr lang="en-US" sz="2000" err="1">
                <a:latin typeface="Calibri"/>
              </a:rPr>
              <a:t>Brasil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alimentou</a:t>
            </a:r>
            <a:r>
              <a:rPr lang="en-US" sz="2000">
                <a:latin typeface="Calibri"/>
              </a:rPr>
              <a:t> </a:t>
            </a:r>
            <a:r>
              <a:rPr lang="en-US" sz="2000" b="1">
                <a:latin typeface="Calibri"/>
              </a:rPr>
              <a:t>628,2 </a:t>
            </a:r>
            <a:r>
              <a:rPr lang="en-US" sz="2000" b="1" err="1">
                <a:latin typeface="Calibri"/>
              </a:rPr>
              <a:t>milhões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pessoas</a:t>
            </a:r>
            <a:r>
              <a:rPr lang="en-US" sz="2000">
                <a:latin typeface="Calibri"/>
              </a:rPr>
              <a:t>.</a:t>
            </a:r>
          </a:p>
          <a:p>
            <a:pPr marL="800100" lvl="1" indent="-342900" algn="just">
              <a:buFont typeface="Courier New"/>
              <a:buChar char="o"/>
            </a:pPr>
            <a:endParaRPr lang="en-US" sz="2000">
              <a:latin typeface="Calibri"/>
            </a:endParaRPr>
          </a:p>
          <a:p>
            <a:pPr marL="342900" indent="-342900" algn="just">
              <a:buChar char="•"/>
            </a:pPr>
            <a:r>
              <a:rPr lang="en-US" sz="2000" err="1">
                <a:latin typeface="Calibri"/>
              </a:rPr>
              <a:t>Irregularidade</a:t>
            </a:r>
            <a:r>
              <a:rPr lang="en-US" sz="2000">
                <a:latin typeface="Calibri"/>
              </a:rPr>
              <a:t> das </a:t>
            </a:r>
            <a:r>
              <a:rPr lang="en-US" sz="2000" err="1">
                <a:latin typeface="Calibri"/>
              </a:rPr>
              <a:t>chuvas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secas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recorrentes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geram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estresse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hídrico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sobretudo</a:t>
            </a:r>
            <a:r>
              <a:rPr lang="en-US" sz="2000">
                <a:latin typeface="Calibri"/>
              </a:rPr>
              <a:t> no Centro-Oeste e Nordeste.</a:t>
            </a:r>
          </a:p>
          <a:p>
            <a:pPr marL="342900" indent="-342900" algn="just">
              <a:buChar char="•"/>
            </a:pPr>
            <a:endParaRPr lang="en-US" sz="2000">
              <a:latin typeface="Calibri"/>
            </a:endParaRPr>
          </a:p>
          <a:p>
            <a:pPr marL="800100" lvl="1" indent="-342900" algn="just">
              <a:buFont typeface="Courier New"/>
              <a:buChar char="o"/>
            </a:pPr>
            <a:r>
              <a:rPr lang="en-US" sz="2000" err="1">
                <a:latin typeface="Calibri"/>
              </a:rPr>
              <a:t>Perdas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produtividade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podem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chegar</a:t>
            </a:r>
            <a:r>
              <a:rPr lang="en-US" sz="2000">
                <a:latin typeface="Calibri"/>
              </a:rPr>
              <a:t> a </a:t>
            </a:r>
            <a:r>
              <a:rPr lang="en-US" sz="2000" b="1" err="1">
                <a:latin typeface="Calibri"/>
              </a:rPr>
              <a:t>mais</a:t>
            </a:r>
            <a:r>
              <a:rPr lang="en-US" sz="2000" b="1">
                <a:latin typeface="Calibri"/>
              </a:rPr>
              <a:t> de 10%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áreas</a:t>
            </a:r>
            <a:r>
              <a:rPr lang="en-US" sz="2000">
                <a:latin typeface="Calibri"/>
              </a:rPr>
              <a:t> com </a:t>
            </a:r>
            <a:r>
              <a:rPr lang="en-US" sz="2000" err="1">
                <a:latin typeface="Calibri"/>
              </a:rPr>
              <a:t>baixa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uniformidade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irrigação</a:t>
            </a:r>
            <a:r>
              <a:rPr lang="en-US" sz="2000">
                <a:latin typeface="Calibri"/>
              </a:rPr>
              <a:t>.</a:t>
            </a:r>
          </a:p>
          <a:p>
            <a:pPr marL="342900" indent="-342900" algn="just">
              <a:buChar char="•"/>
            </a:pPr>
            <a:endParaRPr lang="en-US" sz="2000" b="1">
              <a:latin typeface="Calibri"/>
            </a:endParaRPr>
          </a:p>
          <a:p>
            <a:pPr marL="342900" indent="-342900" algn="just">
              <a:buChar char="•"/>
            </a:pPr>
            <a:r>
              <a:rPr lang="en-US" sz="2000">
                <a:latin typeface="Calibri"/>
              </a:rPr>
              <a:t>Produtores </a:t>
            </a:r>
            <a:r>
              <a:rPr lang="en-US" sz="2000" err="1">
                <a:latin typeface="Calibri"/>
              </a:rPr>
              <a:t>recorrem</a:t>
            </a:r>
            <a:r>
              <a:rPr lang="en-US" sz="2000">
                <a:latin typeface="Calibri"/>
              </a:rPr>
              <a:t> a </a:t>
            </a:r>
            <a:r>
              <a:rPr lang="en-US" sz="2000" err="1">
                <a:latin typeface="Calibri"/>
              </a:rPr>
              <a:t>pivôs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centrais</a:t>
            </a:r>
            <a:r>
              <a:rPr lang="en-US" sz="2000">
                <a:latin typeface="Calibri"/>
              </a:rPr>
              <a:t>, mas </a:t>
            </a:r>
            <a:r>
              <a:rPr lang="en-US" sz="2000" err="1">
                <a:latin typeface="Calibri"/>
              </a:rPr>
              <a:t>falhas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mecânicas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hidráulicas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comprometem</a:t>
            </a:r>
            <a:r>
              <a:rPr lang="en-US" sz="2000">
                <a:latin typeface="Calibri"/>
              </a:rPr>
              <a:t> a </a:t>
            </a:r>
            <a:r>
              <a:rPr lang="en-US" sz="2000" err="1">
                <a:latin typeface="Calibri"/>
              </a:rPr>
              <a:t>uniformidade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aplicação</a:t>
            </a:r>
            <a:r>
              <a:rPr lang="en-US" sz="2000">
                <a:latin typeface="Calibri"/>
              </a:rPr>
              <a:t>.</a:t>
            </a:r>
          </a:p>
          <a:p>
            <a:pPr marL="342900" indent="-342900" algn="just">
              <a:buChar char="•"/>
            </a:pPr>
            <a:endParaRPr lang="en-US" sz="2000">
              <a:latin typeface="Calibri"/>
            </a:endParaRPr>
          </a:p>
          <a:p>
            <a:pPr marL="342900" indent="-342900" algn="just">
              <a:buChar char="•"/>
            </a:pPr>
            <a:r>
              <a:rPr lang="en-US" sz="2000">
                <a:latin typeface="Calibri"/>
              </a:rPr>
              <a:t>No </a:t>
            </a:r>
            <a:r>
              <a:rPr lang="en-US" sz="2000" err="1">
                <a:latin typeface="Calibri"/>
              </a:rPr>
              <a:t>Brasil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mais</a:t>
            </a:r>
            <a:r>
              <a:rPr lang="en-US" sz="2000">
                <a:latin typeface="Calibri"/>
              </a:rPr>
              <a:t> de </a:t>
            </a:r>
            <a:r>
              <a:rPr lang="en-US" sz="2000" b="1">
                <a:latin typeface="Calibri"/>
              </a:rPr>
              <a:t>2,2 </a:t>
            </a:r>
            <a:r>
              <a:rPr lang="en-US" sz="2000" b="1" err="1">
                <a:latin typeface="Calibri"/>
              </a:rPr>
              <a:t>milhões</a:t>
            </a:r>
            <a:r>
              <a:rPr lang="en-US" sz="2000" b="1">
                <a:latin typeface="Calibri"/>
              </a:rPr>
              <a:t> de hectares </a:t>
            </a:r>
            <a:r>
              <a:rPr lang="en-US" sz="2000" err="1">
                <a:latin typeface="Calibri"/>
              </a:rPr>
              <a:t>são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irrigados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por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cerca</a:t>
            </a:r>
            <a:r>
              <a:rPr lang="en-US" sz="2000">
                <a:latin typeface="Calibri"/>
              </a:rPr>
              <a:t> de </a:t>
            </a:r>
            <a:r>
              <a:rPr lang="en-US" sz="2000" b="1">
                <a:latin typeface="Calibri"/>
              </a:rPr>
              <a:t>33 mil </a:t>
            </a:r>
            <a:r>
              <a:rPr lang="en-US" sz="2000" b="1" err="1">
                <a:latin typeface="Calibri"/>
              </a:rPr>
              <a:t>pivôs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centrais</a:t>
            </a:r>
            <a:r>
              <a:rPr lang="en-US" sz="2000">
                <a:latin typeface="Calibri"/>
              </a:rPr>
              <a:t>, e o Cerrado </a:t>
            </a:r>
            <a:r>
              <a:rPr lang="en-US" sz="2000" err="1">
                <a:latin typeface="Calibri"/>
              </a:rPr>
              <a:t>concentra</a:t>
            </a:r>
            <a:r>
              <a:rPr lang="en-US" sz="2000">
                <a:latin typeface="Calibri"/>
              </a:rPr>
              <a:t> </a:t>
            </a:r>
            <a:r>
              <a:rPr lang="en-US" sz="2000" b="1">
                <a:latin typeface="Calibri"/>
              </a:rPr>
              <a:t>~70%</a:t>
            </a:r>
            <a:r>
              <a:rPr lang="en-US" sz="2000">
                <a:latin typeface="Calibri"/>
              </a:rPr>
              <a:t> dessa </a:t>
            </a:r>
            <a:r>
              <a:rPr lang="en-US" sz="2000" err="1">
                <a:latin typeface="Calibri"/>
              </a:rPr>
              <a:t>área</a:t>
            </a:r>
            <a:r>
              <a:rPr lang="en-US" sz="2000">
                <a:latin typeface="Calibri"/>
              </a:rPr>
              <a:t>; </a:t>
            </a:r>
            <a:r>
              <a:rPr lang="en-US" sz="2000" err="1">
                <a:latin typeface="Calibri"/>
              </a:rPr>
              <a:t>só</a:t>
            </a:r>
            <a:r>
              <a:rPr lang="en-US" sz="2000">
                <a:latin typeface="Calibri"/>
              </a:rPr>
              <a:t> o </a:t>
            </a:r>
            <a:r>
              <a:rPr lang="en-US" sz="2000" err="1">
                <a:latin typeface="Calibri"/>
              </a:rPr>
              <a:t>município</a:t>
            </a:r>
            <a:r>
              <a:rPr lang="en-US" sz="2000">
                <a:latin typeface="Calibri"/>
              </a:rPr>
              <a:t> de São Desidério (Oeste </a:t>
            </a:r>
            <a:r>
              <a:rPr lang="en-US" sz="2000" err="1">
                <a:latin typeface="Calibri"/>
              </a:rPr>
              <a:t>baiano</a:t>
            </a:r>
            <a:r>
              <a:rPr lang="en-US" sz="2000">
                <a:latin typeface="Calibri"/>
              </a:rPr>
              <a:t>) soma </a:t>
            </a:r>
            <a:r>
              <a:rPr lang="en-US" sz="2000" err="1">
                <a:latin typeface="Calibri"/>
              </a:rPr>
              <a:t>cerca</a:t>
            </a:r>
            <a:r>
              <a:rPr lang="en-US" sz="2000">
                <a:latin typeface="Calibri"/>
              </a:rPr>
              <a:t> de</a:t>
            </a:r>
            <a:r>
              <a:rPr lang="en-US" sz="2000" b="1">
                <a:latin typeface="Calibri"/>
              </a:rPr>
              <a:t> 91 mil hectares</a:t>
            </a:r>
            <a:r>
              <a:rPr lang="en-US" sz="2000">
                <a:latin typeface="Calibri"/>
              </a:rPr>
              <a:t> sob </a:t>
            </a:r>
            <a:r>
              <a:rPr lang="en-US" sz="2000" err="1">
                <a:latin typeface="Calibri"/>
              </a:rPr>
              <a:t>pivôs</a:t>
            </a:r>
            <a:r>
              <a:rPr lang="en-US" sz="2000">
                <a:latin typeface="Calibri"/>
              </a:rPr>
              <a:t>.</a:t>
            </a: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</a:endParaRPr>
          </a:p>
          <a:p>
            <a:pPr>
              <a:buChar char="•"/>
            </a:pPr>
            <a:endParaRPr lang="en-US" sz="2000"/>
          </a:p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07E9B44A-6ABA-47D0-8D80-8F86A3AB6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0791F7EC-9217-9ED3-8D1E-84B7716E08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33045"/>
            <a:ext cx="10495280" cy="64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3600"/>
              <a:t>Introdução</a:t>
            </a:r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A5A48436-337F-0411-4898-7919513C8E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36012" y="6105407"/>
            <a:ext cx="1791410" cy="5518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3E188D-7D56-B89B-04D2-E5E1DDF7C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538" y="1336372"/>
            <a:ext cx="10497015" cy="4685874"/>
          </a:xfrm>
        </p:spPr>
        <p:txBody>
          <a:bodyPr>
            <a:normAutofit/>
          </a:bodyPr>
          <a:lstStyle/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6DBDD02-3A99-D8FD-F185-7766C643356C}"/>
              </a:ext>
            </a:extLst>
          </p:cNvPr>
          <p:cNvSpPr txBox="1"/>
          <p:nvPr/>
        </p:nvSpPr>
        <p:spPr>
          <a:xfrm>
            <a:off x="838200" y="883756"/>
            <a:ext cx="10495660" cy="36680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Char char="•"/>
            </a:pPr>
            <a:r>
              <a:rPr lang="en-US" sz="2000" dirty="0" err="1">
                <a:latin typeface="Calibri"/>
              </a:rPr>
              <a:t>Estresse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hídrico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ocorre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quando</a:t>
            </a:r>
            <a:r>
              <a:rPr lang="en-US" sz="2000" dirty="0">
                <a:latin typeface="Calibri"/>
              </a:rPr>
              <a:t> a </a:t>
            </a:r>
            <a:r>
              <a:rPr lang="en-US" sz="2000" dirty="0" err="1">
                <a:latin typeface="Calibri"/>
              </a:rPr>
              <a:t>água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disponível</a:t>
            </a:r>
            <a:r>
              <a:rPr lang="en-US" sz="2000" dirty="0">
                <a:latin typeface="Calibri"/>
              </a:rPr>
              <a:t> no solo </a:t>
            </a:r>
            <a:r>
              <a:rPr lang="en-US" sz="2000" dirty="0" err="1">
                <a:latin typeface="Calibri"/>
              </a:rPr>
              <a:t>não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supre</a:t>
            </a:r>
            <a:r>
              <a:rPr lang="en-US" sz="2000" dirty="0">
                <a:latin typeface="Calibri"/>
              </a:rPr>
              <a:t> as </a:t>
            </a:r>
            <a:r>
              <a:rPr lang="en-US" sz="2000" dirty="0" err="1">
                <a:latin typeface="Calibri"/>
              </a:rPr>
              <a:t>necessidades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fisiológicas</a:t>
            </a:r>
            <a:r>
              <a:rPr lang="en-US" sz="2000" dirty="0">
                <a:latin typeface="Calibri"/>
              </a:rPr>
              <a:t> e </a:t>
            </a:r>
            <a:r>
              <a:rPr lang="en-US" sz="2000" dirty="0" err="1">
                <a:latin typeface="Calibri"/>
              </a:rPr>
              <a:t>metabólicas</a:t>
            </a:r>
            <a:r>
              <a:rPr lang="en-US" sz="2000" dirty="0">
                <a:latin typeface="Calibri"/>
              </a:rPr>
              <a:t> das </a:t>
            </a:r>
            <a:r>
              <a:rPr lang="en-US" sz="2000" dirty="0" err="1">
                <a:latin typeface="Calibri"/>
              </a:rPr>
              <a:t>plantas</a:t>
            </a:r>
            <a:r>
              <a:rPr lang="en-US" sz="2000" dirty="0">
                <a:latin typeface="Calibri"/>
              </a:rPr>
              <a:t>.</a:t>
            </a:r>
            <a:endParaRPr lang="pt-BR" dirty="0"/>
          </a:p>
          <a:p>
            <a:pPr marL="800100" lvl="1" indent="-342900" algn="just">
              <a:buFont typeface="Arial"/>
              <a:buChar char="•"/>
            </a:pPr>
            <a:endParaRPr lang="en-US" sz="2000">
              <a:latin typeface="Calibri"/>
            </a:endParaRPr>
          </a:p>
          <a:p>
            <a:pPr marL="342900" indent="-342900" algn="just">
              <a:buChar char="•"/>
            </a:pPr>
            <a:r>
              <a:rPr lang="en-US" sz="2000" dirty="0" err="1">
                <a:latin typeface="Calibri"/>
              </a:rPr>
              <a:t>Pivôs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centrais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podem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apresentar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vazamentos</a:t>
            </a:r>
            <a:r>
              <a:rPr lang="en-US" sz="2000" dirty="0">
                <a:latin typeface="Calibri"/>
              </a:rPr>
              <a:t>, </a:t>
            </a:r>
            <a:r>
              <a:rPr lang="en-US" sz="2000" dirty="0" err="1">
                <a:latin typeface="Calibri"/>
              </a:rPr>
              <a:t>falhas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em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válvulas</a:t>
            </a:r>
            <a:r>
              <a:rPr lang="en-US" sz="2000" dirty="0">
                <a:latin typeface="Calibri"/>
              </a:rPr>
              <a:t>, </a:t>
            </a:r>
            <a:r>
              <a:rPr lang="en-US" sz="2000" dirty="0" err="1">
                <a:latin typeface="Calibri"/>
              </a:rPr>
              <a:t>variações</a:t>
            </a:r>
            <a:r>
              <a:rPr lang="en-US" sz="2000" dirty="0">
                <a:latin typeface="Calibri"/>
              </a:rPr>
              <a:t> de </a:t>
            </a:r>
            <a:r>
              <a:rPr lang="en-US" sz="2000" dirty="0" err="1">
                <a:latin typeface="Calibri"/>
              </a:rPr>
              <a:t>pressão</a:t>
            </a:r>
            <a:r>
              <a:rPr lang="en-US" sz="2000" dirty="0">
                <a:latin typeface="Calibri"/>
              </a:rPr>
              <a:t> e </a:t>
            </a:r>
            <a:r>
              <a:rPr lang="en-US" sz="2000" dirty="0" err="1">
                <a:latin typeface="Calibri"/>
              </a:rPr>
              <a:t>efeitos</a:t>
            </a:r>
            <a:r>
              <a:rPr lang="en-US" sz="2000" dirty="0">
                <a:latin typeface="Calibri"/>
              </a:rPr>
              <a:t> da </a:t>
            </a:r>
            <a:r>
              <a:rPr lang="en-US" sz="2000" dirty="0" err="1">
                <a:latin typeface="Calibri"/>
              </a:rPr>
              <a:t>topografia</a:t>
            </a:r>
            <a:endParaRPr lang="en-US" sz="2000" dirty="0">
              <a:latin typeface="Calibri"/>
            </a:endParaRPr>
          </a:p>
          <a:p>
            <a:pPr marL="342900" indent="-342900" algn="just">
              <a:buChar char="•"/>
            </a:pPr>
            <a:endParaRPr lang="en-US" sz="2000">
              <a:latin typeface="Calibri"/>
            </a:endParaRPr>
          </a:p>
          <a:p>
            <a:pPr marL="342900" indent="-342900" algn="just">
              <a:buChar char="•"/>
            </a:pPr>
            <a:r>
              <a:rPr lang="en-US" sz="2000" dirty="0" err="1">
                <a:latin typeface="Calibri"/>
              </a:rPr>
              <a:t>Experimentos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mostram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que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setores</a:t>
            </a:r>
            <a:r>
              <a:rPr lang="en-US" sz="2000" dirty="0">
                <a:latin typeface="Calibri"/>
              </a:rPr>
              <a:t> com </a:t>
            </a:r>
            <a:r>
              <a:rPr lang="en-US" sz="2000" dirty="0" err="1">
                <a:latin typeface="Calibri"/>
              </a:rPr>
              <a:t>menor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uniformidade</a:t>
            </a:r>
            <a:r>
              <a:rPr lang="en-US" sz="2000" dirty="0">
                <a:latin typeface="Calibri"/>
              </a:rPr>
              <a:t> (CUH ≈ 65%) </a:t>
            </a:r>
            <a:r>
              <a:rPr lang="en-US" sz="2000" dirty="0" err="1">
                <a:latin typeface="Calibri"/>
              </a:rPr>
              <a:t>têm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rendimento</a:t>
            </a:r>
            <a:r>
              <a:rPr lang="en-US" sz="2000" dirty="0">
                <a:latin typeface="Calibri"/>
              </a:rPr>
              <a:t> ≈10% </a:t>
            </a:r>
            <a:r>
              <a:rPr lang="en-US" sz="2000" dirty="0" err="1">
                <a:latin typeface="Calibri"/>
              </a:rPr>
              <a:t>menor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que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setores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bem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irrigados</a:t>
            </a:r>
            <a:r>
              <a:rPr lang="en-US" sz="2000" dirty="0">
                <a:latin typeface="Calibri"/>
              </a:rPr>
              <a:t>.</a:t>
            </a:r>
          </a:p>
          <a:p>
            <a:endParaRPr lang="en-US" sz="2000"/>
          </a:p>
          <a:p>
            <a:pPr marL="342900" indent="-342900">
              <a:buChar char="•"/>
            </a:pPr>
            <a:endParaRPr lang="en-US" sz="2000">
              <a:latin typeface="Calibri"/>
            </a:endParaRPr>
          </a:p>
          <a:p>
            <a:pPr>
              <a:buFont typeface="Arial"/>
              <a:buChar char="•"/>
            </a:pPr>
            <a:endParaRPr lang="en-US" sz="2000"/>
          </a:p>
          <a:p>
            <a:pPr algn="ctr"/>
            <a:endParaRPr lang="pt-BR"/>
          </a:p>
        </p:txBody>
      </p:sp>
      <p:pic>
        <p:nvPicPr>
          <p:cNvPr id="8" name="Imagem 7" descr="Ponte sobre a grama&#10;&#10;O conteúdo gerado por IA pode estar incorreto.">
            <a:extLst>
              <a:ext uri="{FF2B5EF4-FFF2-40B4-BE49-F238E27FC236}">
                <a16:creationId xmlns:a16="http://schemas.microsoft.com/office/drawing/2014/main" id="{CCB16D49-6A68-C983-4082-102A5433F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01" y="3677589"/>
            <a:ext cx="5483877" cy="2232488"/>
          </a:xfrm>
          <a:prstGeom prst="rect">
            <a:avLst/>
          </a:prstGeom>
        </p:spPr>
      </p:pic>
      <p:pic>
        <p:nvPicPr>
          <p:cNvPr id="10" name="Imagem 9" descr="Vista de janela de avião&#10;&#10;O conteúdo gerado por IA pode estar incorreto.">
            <a:extLst>
              <a:ext uri="{FF2B5EF4-FFF2-40B4-BE49-F238E27FC236}">
                <a16:creationId xmlns:a16="http://schemas.microsoft.com/office/drawing/2014/main" id="{48E21C34-E9BB-FAD0-E438-C00D5983F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5367" y="3336469"/>
            <a:ext cx="2616077" cy="303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036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846055" y="92982"/>
            <a:ext cx="3270369" cy="92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3600"/>
              <a:t>Introdução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B51797-1A1A-DAF2-0FD2-4D11994D5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8096" y="1297305"/>
            <a:ext cx="10800344" cy="412623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pt-BR" b="1"/>
          </a:p>
          <a:p>
            <a:endParaRPr lang="pt-BR"/>
          </a:p>
        </p:txBody>
      </p:sp>
      <p:pic>
        <p:nvPicPr>
          <p:cNvPr id="2" name="Imagem 1" descr="Tabela&#10;&#10;O conteúdo gerado por IA pode estar incorreto.">
            <a:extLst>
              <a:ext uri="{FF2B5EF4-FFF2-40B4-BE49-F238E27FC236}">
                <a16:creationId xmlns:a16="http://schemas.microsoft.com/office/drawing/2014/main" id="{25044D5B-B912-8B04-5E3C-D84EDF123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06" y="849862"/>
            <a:ext cx="4591421" cy="2588078"/>
          </a:xfrm>
          <a:prstGeom prst="rect">
            <a:avLst/>
          </a:prstGeom>
        </p:spPr>
      </p:pic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9DC99C88-B9A7-D6B9-283B-35831BAF7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769" y="3767821"/>
            <a:ext cx="4630634" cy="300136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5FCD7FA-27A8-C4E4-9DDC-5A6045CF2672}"/>
              </a:ext>
            </a:extLst>
          </p:cNvPr>
          <p:cNvSpPr txBox="1"/>
          <p:nvPr/>
        </p:nvSpPr>
        <p:spPr>
          <a:xfrm>
            <a:off x="5700156" y="638299"/>
            <a:ext cx="6214754" cy="57554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600" b="1" dirty="0" err="1">
                <a:latin typeface="Calibri"/>
              </a:rPr>
              <a:t>Representação</a:t>
            </a:r>
            <a:r>
              <a:rPr lang="en-US" sz="1600" b="1" dirty="0">
                <a:latin typeface="Calibri"/>
              </a:rPr>
              <a:t> dos </a:t>
            </a:r>
            <a:r>
              <a:rPr lang="en-US" sz="1600" b="1" dirty="0" err="1">
                <a:latin typeface="Calibri"/>
              </a:rPr>
              <a:t>trechos</a:t>
            </a:r>
            <a:r>
              <a:rPr lang="en-US" sz="1600" b="1" dirty="0">
                <a:latin typeface="Calibri"/>
              </a:rPr>
              <a:t> do </a:t>
            </a:r>
            <a:r>
              <a:rPr lang="en-US" sz="1600" b="1" dirty="0" err="1">
                <a:latin typeface="Calibri"/>
              </a:rPr>
              <a:t>pivô</a:t>
            </a:r>
            <a:r>
              <a:rPr lang="en-US" sz="1600" b="1" dirty="0">
                <a:latin typeface="Calibri"/>
              </a:rPr>
              <a:t> </a:t>
            </a:r>
            <a:r>
              <a:rPr lang="en-US" sz="1600" b="1" dirty="0" err="1">
                <a:latin typeface="Calibri"/>
              </a:rPr>
              <a:t>na</a:t>
            </a:r>
            <a:r>
              <a:rPr lang="en-US" sz="1600" b="1" dirty="0">
                <a:latin typeface="Calibri"/>
              </a:rPr>
              <a:t> </a:t>
            </a:r>
            <a:r>
              <a:rPr lang="en-US" sz="1600" b="1" dirty="0" err="1">
                <a:latin typeface="Calibri"/>
              </a:rPr>
              <a:t>imagem</a:t>
            </a:r>
            <a:r>
              <a:rPr lang="en-US" sz="1600" dirty="0">
                <a:latin typeface="Calibri"/>
              </a:rPr>
              <a:t>: O </a:t>
            </a:r>
            <a:r>
              <a:rPr lang="en-US" sz="1600" dirty="0" err="1">
                <a:latin typeface="Calibri"/>
              </a:rPr>
              <a:t>esquema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mostra</a:t>
            </a:r>
            <a:r>
              <a:rPr lang="en-US" sz="1600" dirty="0">
                <a:latin typeface="Calibri"/>
              </a:rPr>
              <a:t> um </a:t>
            </a:r>
            <a:r>
              <a:rPr lang="en-US" sz="1600" dirty="0" err="1">
                <a:latin typeface="Calibri"/>
              </a:rPr>
              <a:t>setor</a:t>
            </a:r>
            <a:r>
              <a:rPr lang="en-US" sz="1600" dirty="0">
                <a:latin typeface="Calibri"/>
              </a:rPr>
              <a:t> de 1/8 de </a:t>
            </a:r>
            <a:r>
              <a:rPr lang="en-US" sz="1600" dirty="0" err="1">
                <a:latin typeface="Calibri"/>
              </a:rPr>
              <a:t>círculo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dividido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em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três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faixas</a:t>
            </a:r>
            <a:r>
              <a:rPr lang="en-US" sz="1600" dirty="0">
                <a:latin typeface="Calibri"/>
              </a:rPr>
              <a:t>: </a:t>
            </a:r>
            <a:r>
              <a:rPr lang="en-US" sz="1600" i="1" dirty="0" err="1">
                <a:latin typeface="Calibri"/>
              </a:rPr>
              <a:t>primeiro</a:t>
            </a:r>
            <a:r>
              <a:rPr lang="en-US" sz="1600" i="1" dirty="0">
                <a:latin typeface="Calibri"/>
              </a:rPr>
              <a:t> lance</a:t>
            </a:r>
            <a:r>
              <a:rPr lang="en-US" sz="1600" dirty="0">
                <a:latin typeface="Calibri"/>
              </a:rPr>
              <a:t>, </a:t>
            </a:r>
            <a:r>
              <a:rPr lang="en-US" sz="1600" i="1" dirty="0" err="1">
                <a:latin typeface="Calibri"/>
              </a:rPr>
              <a:t>segundo</a:t>
            </a:r>
            <a:r>
              <a:rPr lang="en-US" sz="1600" i="1" dirty="0">
                <a:latin typeface="Calibri"/>
              </a:rPr>
              <a:t> lance</a:t>
            </a:r>
            <a:r>
              <a:rPr lang="en-US" sz="1600" dirty="0">
                <a:latin typeface="Calibri"/>
              </a:rPr>
              <a:t> e </a:t>
            </a:r>
            <a:r>
              <a:rPr lang="en-US" sz="1600" i="1" dirty="0">
                <a:latin typeface="Calibri"/>
              </a:rPr>
              <a:t>end gun</a:t>
            </a:r>
            <a:r>
              <a:rPr lang="en-US" sz="1600" dirty="0">
                <a:latin typeface="Calibri"/>
              </a:rPr>
              <a:t>. Cada </a:t>
            </a:r>
            <a:r>
              <a:rPr lang="en-US" sz="1600" dirty="0" err="1">
                <a:latin typeface="Calibri"/>
              </a:rPr>
              <a:t>uma</a:t>
            </a:r>
            <a:r>
              <a:rPr lang="en-US" sz="1600" dirty="0">
                <a:latin typeface="Calibri"/>
              </a:rPr>
              <a:t> é </a:t>
            </a:r>
            <a:r>
              <a:rPr lang="en-US" sz="1600" dirty="0" err="1">
                <a:latin typeface="Calibri"/>
              </a:rPr>
              <a:t>associada</a:t>
            </a:r>
            <a:r>
              <a:rPr lang="en-US" sz="1600" dirty="0">
                <a:latin typeface="Calibri"/>
              </a:rPr>
              <a:t> a um </a:t>
            </a:r>
            <a:r>
              <a:rPr lang="en-US" sz="1600" dirty="0" err="1">
                <a:latin typeface="Calibri"/>
              </a:rPr>
              <a:t>tipo</a:t>
            </a:r>
            <a:r>
              <a:rPr lang="en-US" sz="1600" dirty="0">
                <a:latin typeface="Calibri"/>
              </a:rPr>
              <a:t> de aspersor(R3000, D3000 e P85A).</a:t>
            </a:r>
          </a:p>
          <a:p>
            <a:pPr marL="228600" indent="-228600">
              <a:buFont typeface=""/>
              <a:buChar char="•"/>
            </a:pPr>
            <a:endParaRPr lang="en-US" sz="1600" dirty="0">
              <a:latin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 b="1" dirty="0" err="1">
                <a:latin typeface="Calibri"/>
              </a:rPr>
              <a:t>Relação</a:t>
            </a:r>
            <a:r>
              <a:rPr lang="en-US" sz="1600" b="1" dirty="0">
                <a:latin typeface="Calibri"/>
              </a:rPr>
              <a:t> entre </a:t>
            </a:r>
            <a:r>
              <a:rPr lang="en-US" sz="1600" b="1" dirty="0" err="1">
                <a:latin typeface="Calibri"/>
              </a:rPr>
              <a:t>emissores</a:t>
            </a:r>
            <a:r>
              <a:rPr lang="en-US" sz="1600" b="1" dirty="0">
                <a:latin typeface="Calibri"/>
              </a:rPr>
              <a:t> e </a:t>
            </a:r>
            <a:r>
              <a:rPr lang="en-US" sz="1600" b="1" dirty="0" err="1">
                <a:latin typeface="Calibri"/>
              </a:rPr>
              <a:t>uniformidade</a:t>
            </a:r>
            <a:r>
              <a:rPr lang="en-US" sz="1600" dirty="0">
                <a:latin typeface="Calibri"/>
              </a:rPr>
              <a:t>: A </a:t>
            </a:r>
            <a:r>
              <a:rPr lang="en-US" sz="1600" dirty="0" err="1">
                <a:latin typeface="Calibri"/>
              </a:rPr>
              <a:t>disposição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espacial</a:t>
            </a:r>
            <a:r>
              <a:rPr lang="en-US" sz="1600" dirty="0">
                <a:latin typeface="Calibri"/>
              </a:rPr>
              <a:t> dos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aspersores</a:t>
            </a:r>
            <a:r>
              <a:rPr lang="en-US" sz="1600" dirty="0">
                <a:latin typeface="Calibri"/>
                <a:ea typeface="Calibri"/>
                <a:cs typeface="Calibri"/>
              </a:rPr>
              <a:t> </a:t>
            </a:r>
            <a:r>
              <a:rPr lang="en-US" sz="1600" dirty="0" err="1">
                <a:latin typeface="Calibri"/>
              </a:rPr>
              <a:t>na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figura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evidencia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que</a:t>
            </a:r>
            <a:r>
              <a:rPr lang="en-US" sz="1600" dirty="0">
                <a:latin typeface="Calibri"/>
              </a:rPr>
              <a:t> R3000 </a:t>
            </a:r>
            <a:r>
              <a:rPr lang="en-US" sz="1600" dirty="0" err="1">
                <a:latin typeface="Calibri"/>
              </a:rPr>
              <a:t>ocupa</a:t>
            </a:r>
            <a:r>
              <a:rPr lang="en-US" sz="1600" dirty="0">
                <a:latin typeface="Calibri"/>
              </a:rPr>
              <a:t> o </a:t>
            </a:r>
            <a:r>
              <a:rPr lang="en-US" sz="1600" dirty="0" err="1">
                <a:latin typeface="Calibri"/>
              </a:rPr>
              <a:t>trecho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mais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próximo</a:t>
            </a:r>
            <a:r>
              <a:rPr lang="en-US" sz="1600" dirty="0">
                <a:latin typeface="Calibri"/>
              </a:rPr>
              <a:t> da </a:t>
            </a:r>
            <a:r>
              <a:rPr lang="en-US" sz="1600" dirty="0" err="1">
                <a:latin typeface="Calibri"/>
              </a:rPr>
              <a:t>torre</a:t>
            </a:r>
            <a:r>
              <a:rPr lang="en-US" sz="1600" dirty="0">
                <a:latin typeface="Calibri"/>
              </a:rPr>
              <a:t> (</a:t>
            </a:r>
            <a:r>
              <a:rPr lang="en-US" sz="1600" dirty="0" err="1">
                <a:latin typeface="Calibri"/>
              </a:rPr>
              <a:t>maior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uniformidade</a:t>
            </a:r>
            <a:r>
              <a:rPr lang="en-US" sz="1600" dirty="0">
                <a:latin typeface="Calibri"/>
              </a:rPr>
              <a:t>), D3000 o </a:t>
            </a:r>
            <a:r>
              <a:rPr lang="en-US" sz="1600" dirty="0" err="1">
                <a:latin typeface="Calibri"/>
              </a:rPr>
              <a:t>trecho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intermediário</a:t>
            </a:r>
            <a:r>
              <a:rPr lang="en-US" sz="1600" dirty="0">
                <a:latin typeface="Calibri"/>
              </a:rPr>
              <a:t> e P85A o </a:t>
            </a:r>
            <a:r>
              <a:rPr lang="en-US" sz="1600" dirty="0" err="1">
                <a:latin typeface="Calibri"/>
              </a:rPr>
              <a:t>setor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externo</a:t>
            </a:r>
            <a:r>
              <a:rPr lang="en-US" sz="1600" dirty="0">
                <a:latin typeface="Calibri"/>
              </a:rPr>
              <a:t> (</a:t>
            </a:r>
            <a:r>
              <a:rPr lang="en-US" sz="1600" dirty="0" err="1">
                <a:latin typeface="Calibri"/>
              </a:rPr>
              <a:t>menor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uniformidade</a:t>
            </a:r>
            <a:r>
              <a:rPr lang="en-US" sz="1600" dirty="0">
                <a:latin typeface="Calibri"/>
              </a:rPr>
              <a:t>). Assim,  R3000 </a:t>
            </a:r>
            <a:r>
              <a:rPr lang="en-US" sz="1600" dirty="0" err="1">
                <a:latin typeface="Calibri"/>
              </a:rPr>
              <a:t>obteve</a:t>
            </a:r>
            <a:r>
              <a:rPr lang="en-US" sz="1600" dirty="0">
                <a:latin typeface="Calibri"/>
              </a:rPr>
              <a:t> CUH e CUC </a:t>
            </a:r>
            <a:r>
              <a:rPr lang="en-US" sz="1600" dirty="0" err="1">
                <a:latin typeface="Calibri"/>
              </a:rPr>
              <a:t>mais</a:t>
            </a:r>
            <a:r>
              <a:rPr lang="en-US" sz="1600" dirty="0">
                <a:latin typeface="Calibri"/>
              </a:rPr>
              <a:t> altos e o </a:t>
            </a:r>
            <a:r>
              <a:rPr lang="en-US" sz="1600" dirty="0" err="1">
                <a:latin typeface="Calibri"/>
              </a:rPr>
              <a:t>canhão</a:t>
            </a:r>
            <a:r>
              <a:rPr lang="en-US" sz="1600" dirty="0">
                <a:latin typeface="Calibri"/>
              </a:rPr>
              <a:t> P85A </a:t>
            </a:r>
            <a:r>
              <a:rPr lang="en-US" sz="1600" dirty="0" err="1">
                <a:latin typeface="Calibri"/>
              </a:rPr>
              <a:t>apresentou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os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menores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índices</a:t>
            </a:r>
            <a:r>
              <a:rPr lang="en-US" sz="1600" dirty="0">
                <a:latin typeface="Calibri"/>
              </a:rPr>
              <a:t>.</a:t>
            </a:r>
          </a:p>
          <a:p>
            <a:pPr marL="228600" indent="-228600">
              <a:buFont typeface=""/>
              <a:buChar char="•"/>
            </a:pPr>
            <a:endParaRPr lang="en-US" sz="1600" dirty="0">
              <a:latin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 b="1" dirty="0" err="1">
                <a:latin typeface="Calibri"/>
              </a:rPr>
              <a:t>Influência</a:t>
            </a:r>
            <a:r>
              <a:rPr lang="en-US" sz="1600" b="1" dirty="0">
                <a:latin typeface="Calibri"/>
              </a:rPr>
              <a:t> das </a:t>
            </a:r>
            <a:r>
              <a:rPr lang="en-US" sz="1600" b="1" dirty="0" err="1">
                <a:latin typeface="Calibri"/>
              </a:rPr>
              <a:t>distâncias</a:t>
            </a:r>
            <a:r>
              <a:rPr lang="en-US" sz="1600" b="1" dirty="0">
                <a:latin typeface="Calibri"/>
              </a:rPr>
              <a:t> </a:t>
            </a:r>
            <a:r>
              <a:rPr lang="en-US" sz="1600" b="1" dirty="0" err="1">
                <a:latin typeface="Calibri"/>
              </a:rPr>
              <a:t>ao</a:t>
            </a:r>
            <a:r>
              <a:rPr lang="en-US" sz="1600" b="1" dirty="0">
                <a:latin typeface="Calibri"/>
              </a:rPr>
              <a:t> </a:t>
            </a:r>
            <a:r>
              <a:rPr lang="en-US" sz="1600" b="1" dirty="0" err="1">
                <a:latin typeface="Calibri"/>
              </a:rPr>
              <a:t>longo</a:t>
            </a:r>
            <a:r>
              <a:rPr lang="en-US" sz="1600" b="1" dirty="0">
                <a:latin typeface="Calibri"/>
              </a:rPr>
              <a:t> do </a:t>
            </a:r>
            <a:r>
              <a:rPr lang="en-US" sz="1600" b="1" dirty="0" err="1">
                <a:latin typeface="Calibri"/>
              </a:rPr>
              <a:t>raio</a:t>
            </a:r>
            <a:r>
              <a:rPr lang="en-US" sz="1600" dirty="0">
                <a:latin typeface="Calibri"/>
              </a:rPr>
              <a:t>: </a:t>
            </a:r>
            <a:r>
              <a:rPr lang="en-US" sz="1600" dirty="0" err="1">
                <a:latin typeface="Calibri"/>
              </a:rPr>
              <a:t>Os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comprimentos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indicados</a:t>
            </a:r>
            <a:r>
              <a:rPr lang="en-US" sz="1600" dirty="0">
                <a:latin typeface="Calibri"/>
              </a:rPr>
              <a:t> (43,3 m; 37,5 m; 30,2 m) </a:t>
            </a:r>
            <a:r>
              <a:rPr lang="en-US" sz="1600" dirty="0" err="1">
                <a:latin typeface="Calibri"/>
              </a:rPr>
              <a:t>reforçam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que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quanto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maior</a:t>
            </a:r>
            <a:r>
              <a:rPr lang="en-US" sz="1600" dirty="0">
                <a:latin typeface="Calibri"/>
              </a:rPr>
              <a:t> a </a:t>
            </a:r>
            <a:r>
              <a:rPr lang="en-US" sz="1600" dirty="0" err="1">
                <a:latin typeface="Calibri"/>
              </a:rPr>
              <a:t>distância</a:t>
            </a:r>
            <a:r>
              <a:rPr lang="en-US" sz="1600" dirty="0">
                <a:latin typeface="Calibri"/>
              </a:rPr>
              <a:t> do </a:t>
            </a:r>
            <a:r>
              <a:rPr lang="en-US" sz="1600" dirty="0" err="1">
                <a:latin typeface="Calibri"/>
              </a:rPr>
              <a:t>emissor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ao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centro</a:t>
            </a:r>
            <a:r>
              <a:rPr lang="en-US" sz="1600" dirty="0">
                <a:latin typeface="Calibri"/>
              </a:rPr>
              <a:t> do </a:t>
            </a:r>
            <a:r>
              <a:rPr lang="en-US" sz="1600" dirty="0" err="1">
                <a:latin typeface="Calibri"/>
              </a:rPr>
              <a:t>pivô</a:t>
            </a:r>
            <a:r>
              <a:rPr lang="en-US" sz="1600" dirty="0">
                <a:latin typeface="Calibri"/>
              </a:rPr>
              <a:t>, </a:t>
            </a:r>
            <a:r>
              <a:rPr lang="en-US" sz="1600" dirty="0" err="1">
                <a:latin typeface="Calibri"/>
              </a:rPr>
              <a:t>maior</a:t>
            </a:r>
            <a:r>
              <a:rPr lang="en-US" sz="1600" dirty="0">
                <a:latin typeface="Calibri"/>
              </a:rPr>
              <a:t> a </a:t>
            </a:r>
            <a:r>
              <a:rPr lang="en-US" sz="1600" dirty="0" err="1">
                <a:latin typeface="Calibri"/>
              </a:rPr>
              <a:t>variabilidade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na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distribuição</a:t>
            </a:r>
            <a:r>
              <a:rPr lang="en-US" sz="1600" dirty="0">
                <a:latin typeface="Calibri"/>
              </a:rPr>
              <a:t> de </a:t>
            </a:r>
            <a:r>
              <a:rPr lang="en-US" sz="1600" dirty="0" err="1">
                <a:latin typeface="Calibri"/>
              </a:rPr>
              <a:t>água</a:t>
            </a:r>
            <a:r>
              <a:rPr lang="en-US" sz="1600" dirty="0">
                <a:latin typeface="Calibri"/>
              </a:rPr>
              <a:t> — o </a:t>
            </a:r>
            <a:r>
              <a:rPr lang="en-US" sz="1600" dirty="0" err="1">
                <a:latin typeface="Calibri"/>
              </a:rPr>
              <a:t>que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explica</a:t>
            </a:r>
            <a:r>
              <a:rPr lang="en-US" sz="1600" dirty="0">
                <a:latin typeface="Calibri"/>
              </a:rPr>
              <a:t> a </a:t>
            </a:r>
            <a:r>
              <a:rPr lang="en-US" sz="1600" dirty="0" err="1">
                <a:latin typeface="Calibri"/>
              </a:rPr>
              <a:t>queda</a:t>
            </a:r>
            <a:r>
              <a:rPr lang="en-US" sz="1600" dirty="0">
                <a:latin typeface="Calibri"/>
              </a:rPr>
              <a:t> de CUH </a:t>
            </a:r>
            <a:r>
              <a:rPr lang="en-US" sz="1600" dirty="0" err="1">
                <a:latin typeface="Calibri"/>
              </a:rPr>
              <a:t>observada</a:t>
            </a:r>
            <a:r>
              <a:rPr lang="en-US" sz="1600" dirty="0">
                <a:latin typeface="Calibri"/>
              </a:rPr>
              <a:t> no </a:t>
            </a:r>
            <a:r>
              <a:rPr lang="en-US" sz="1600" dirty="0" err="1">
                <a:latin typeface="Calibri"/>
              </a:rPr>
              <a:t>setor</a:t>
            </a:r>
            <a:r>
              <a:rPr lang="en-US" sz="1600" dirty="0">
                <a:latin typeface="Calibri"/>
              </a:rPr>
              <a:t> do </a:t>
            </a:r>
            <a:r>
              <a:rPr lang="en-US" sz="1600" i="1" dirty="0">
                <a:latin typeface="Calibri"/>
              </a:rPr>
              <a:t>end gun</a:t>
            </a:r>
            <a:r>
              <a:rPr lang="en-US" sz="1600" dirty="0">
                <a:latin typeface="Calibri"/>
              </a:rPr>
              <a:t>, </a:t>
            </a:r>
            <a:r>
              <a:rPr lang="en-US" sz="1600" dirty="0" err="1">
                <a:latin typeface="Calibri"/>
              </a:rPr>
              <a:t>alinhada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aos</a:t>
            </a:r>
            <a:r>
              <a:rPr lang="en-US" sz="1600" dirty="0">
                <a:latin typeface="Calibri"/>
              </a:rPr>
              <a:t> 63–67% </a:t>
            </a:r>
            <a:r>
              <a:rPr lang="en-US" sz="1600" dirty="0" err="1">
                <a:latin typeface="Calibri"/>
              </a:rPr>
              <a:t>reportados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na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tabela</a:t>
            </a:r>
            <a:r>
              <a:rPr lang="en-US" sz="1600" dirty="0">
                <a:latin typeface="Calibri"/>
              </a:rPr>
              <a:t>.</a:t>
            </a:r>
          </a:p>
          <a:p>
            <a:pPr marL="228600" indent="-228600">
              <a:buFont typeface=""/>
              <a:buChar char="•"/>
            </a:pPr>
            <a:endParaRPr lang="en-US" sz="1600" dirty="0">
              <a:latin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sz="1600" b="1" dirty="0">
                <a:latin typeface="Calibri"/>
              </a:rPr>
              <a:t>Impacto </a:t>
            </a:r>
            <a:r>
              <a:rPr lang="en-US" sz="1600" b="1" dirty="0" err="1">
                <a:latin typeface="Calibri"/>
              </a:rPr>
              <a:t>agronômico</a:t>
            </a:r>
            <a:r>
              <a:rPr lang="en-US" sz="1600" b="1" dirty="0">
                <a:latin typeface="Calibri"/>
              </a:rPr>
              <a:t> da </a:t>
            </a:r>
            <a:r>
              <a:rPr lang="en-US" sz="1600" b="1" dirty="0" err="1">
                <a:latin typeface="Calibri"/>
              </a:rPr>
              <a:t>variação</a:t>
            </a:r>
            <a:r>
              <a:rPr lang="en-US" sz="1600" b="1" dirty="0">
                <a:latin typeface="Calibri"/>
              </a:rPr>
              <a:t> </a:t>
            </a:r>
            <a:r>
              <a:rPr lang="en-US" sz="1600" b="1" dirty="0" err="1">
                <a:latin typeface="Calibri"/>
              </a:rPr>
              <a:t>espacial</a:t>
            </a:r>
            <a:r>
              <a:rPr lang="en-US" sz="1600" dirty="0">
                <a:latin typeface="Calibri"/>
              </a:rPr>
              <a:t>: A </a:t>
            </a:r>
            <a:r>
              <a:rPr lang="en-US" sz="1600" dirty="0" err="1">
                <a:latin typeface="Calibri"/>
              </a:rPr>
              <a:t>figura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também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marca</a:t>
            </a:r>
            <a:r>
              <a:rPr lang="en-US" sz="1600" dirty="0">
                <a:latin typeface="Calibri"/>
              </a:rPr>
              <a:t> as </a:t>
            </a:r>
            <a:r>
              <a:rPr lang="en-US" sz="1600" dirty="0" err="1">
                <a:latin typeface="Calibri"/>
              </a:rPr>
              <a:t>parcelas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experimentais</a:t>
            </a:r>
            <a:r>
              <a:rPr lang="en-US" sz="1600" dirty="0">
                <a:latin typeface="Calibri"/>
              </a:rPr>
              <a:t> (</a:t>
            </a:r>
            <a:r>
              <a:rPr lang="en-US" sz="1600" dirty="0" err="1">
                <a:latin typeface="Calibri"/>
              </a:rPr>
              <a:t>retângulos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brancos</a:t>
            </a:r>
            <a:r>
              <a:rPr lang="en-US" sz="1600" dirty="0">
                <a:latin typeface="Calibri"/>
              </a:rPr>
              <a:t>), </a:t>
            </a:r>
            <a:r>
              <a:rPr lang="en-US" sz="1600" dirty="0" err="1">
                <a:latin typeface="Calibri"/>
              </a:rPr>
              <a:t>mostrando</a:t>
            </a:r>
            <a:r>
              <a:rPr lang="en-US" sz="1600" dirty="0">
                <a:latin typeface="Calibri"/>
              </a:rPr>
              <a:t> a </a:t>
            </a:r>
            <a:r>
              <a:rPr lang="en-US" sz="1600" dirty="0" err="1">
                <a:latin typeface="Calibri"/>
              </a:rPr>
              <a:t>avaliação</a:t>
            </a:r>
            <a:r>
              <a:rPr lang="en-US" sz="1600" dirty="0">
                <a:latin typeface="Calibri"/>
              </a:rPr>
              <a:t> da  </a:t>
            </a:r>
            <a:r>
              <a:rPr lang="en-US" sz="1600" dirty="0" err="1">
                <a:latin typeface="Calibri"/>
              </a:rPr>
              <a:t>produtividade</a:t>
            </a:r>
            <a:r>
              <a:rPr lang="en-US" sz="1600" dirty="0">
                <a:latin typeface="Calibri"/>
              </a:rPr>
              <a:t> e da </a:t>
            </a:r>
            <a:r>
              <a:rPr lang="en-US" sz="1600" dirty="0" err="1">
                <a:latin typeface="Calibri"/>
              </a:rPr>
              <a:t>biomassa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em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cada</a:t>
            </a:r>
            <a:r>
              <a:rPr lang="en-US" sz="1600" dirty="0">
                <a:latin typeface="Calibri"/>
              </a:rPr>
              <a:t> zona. Essa </a:t>
            </a:r>
            <a:r>
              <a:rPr lang="en-US" sz="1600" dirty="0" err="1">
                <a:latin typeface="Calibri"/>
              </a:rPr>
              <a:t>estrutura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permite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relacionar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visualmente</a:t>
            </a:r>
            <a:r>
              <a:rPr lang="en-US" sz="1600" dirty="0">
                <a:latin typeface="Calibri"/>
              </a:rPr>
              <a:t> a </a:t>
            </a:r>
            <a:r>
              <a:rPr lang="en-US" sz="1600" dirty="0" err="1">
                <a:latin typeface="Calibri"/>
              </a:rPr>
              <a:t>menor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uniformidade</a:t>
            </a:r>
            <a:r>
              <a:rPr lang="en-US" sz="1600" dirty="0">
                <a:latin typeface="Calibri"/>
              </a:rPr>
              <a:t> do </a:t>
            </a:r>
            <a:r>
              <a:rPr lang="en-US" sz="1600" i="1" dirty="0">
                <a:latin typeface="Calibri"/>
              </a:rPr>
              <a:t>end gun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ao</a:t>
            </a:r>
            <a:r>
              <a:rPr lang="en-US" sz="1600" dirty="0">
                <a:latin typeface="Calibri"/>
              </a:rPr>
              <a:t> </a:t>
            </a:r>
            <a:r>
              <a:rPr lang="en-US" sz="1600" dirty="0" err="1">
                <a:latin typeface="Calibri"/>
              </a:rPr>
              <a:t>rendimento</a:t>
            </a:r>
            <a:r>
              <a:rPr lang="en-US" sz="1600" dirty="0">
                <a:latin typeface="Calibri"/>
              </a:rPr>
              <a:t> 10% inferior </a:t>
            </a:r>
            <a:r>
              <a:rPr lang="en-US" sz="1600" dirty="0" err="1">
                <a:latin typeface="Calibri"/>
              </a:rPr>
              <a:t>registrado</a:t>
            </a:r>
            <a:r>
              <a:rPr lang="en-US" sz="1600" dirty="0">
                <a:latin typeface="Calibri"/>
              </a:rPr>
              <a:t> no </a:t>
            </a:r>
            <a:r>
              <a:rPr lang="en-US" sz="1600" dirty="0" err="1">
                <a:latin typeface="Calibri"/>
              </a:rPr>
              <a:t>experimento</a:t>
            </a:r>
            <a:r>
              <a:rPr lang="en-US" sz="1600" dirty="0"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3A80F-D3C3-2605-BAD8-7A21C5188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7037" y="2305685"/>
            <a:ext cx="6232168" cy="2244547"/>
          </a:xfrm>
        </p:spPr>
        <p:txBody>
          <a:bodyPr/>
          <a:lstStyle/>
          <a:p>
            <a:r>
              <a:rPr lang="pt-BR"/>
              <a:t>Referencial Teórico</a:t>
            </a:r>
          </a:p>
          <a:p>
            <a:endParaRPr lang="pt-BR"/>
          </a:p>
        </p:txBody>
      </p:sp>
      <p:pic>
        <p:nvPicPr>
          <p:cNvPr id="4" name="Google Shape;91;p13" descr="Logo">
            <a:extLst>
              <a:ext uri="{FF2B5EF4-FFF2-40B4-BE49-F238E27FC236}">
                <a16:creationId xmlns:a16="http://schemas.microsoft.com/office/drawing/2014/main" id="{FD7D8A47-71F9-A523-00A4-F4B54EA2D7C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4760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8233BA47-A92C-ECC6-0C5C-E9D098F8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65062AA4-109C-3FAA-56E3-831EDDF9BB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33045"/>
            <a:ext cx="10495280" cy="64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sz="3600"/>
              <a:t>Referencial Teórico</a:t>
            </a:r>
            <a:endParaRPr lang="pt-BR"/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E0A942A3-5587-EEEB-B2F9-323E74D9A3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8314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81DEBB-ADD7-35C3-73F4-F506BA625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5333"/>
            <a:ext cx="10497015" cy="4685874"/>
          </a:xfrm>
        </p:spPr>
        <p:txBody>
          <a:bodyPr>
            <a:normAutofit/>
          </a:bodyPr>
          <a:lstStyle/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06E9CB-2E4F-9C62-7011-5F3E9FCCCCF5}"/>
              </a:ext>
            </a:extLst>
          </p:cNvPr>
          <p:cNvSpPr txBox="1"/>
          <p:nvPr/>
        </p:nvSpPr>
        <p:spPr>
          <a:xfrm>
            <a:off x="834390" y="878205"/>
            <a:ext cx="10532110" cy="54688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>
                <a:latin typeface="Calibri"/>
                <a:ea typeface="YAFdJs2qTWQ_0"/>
                <a:cs typeface="YAFdJs2qTWQ_0"/>
              </a:rPr>
              <a:t>Este </a:t>
            </a:r>
            <a:r>
              <a:rPr lang="en-US" sz="2400" err="1">
                <a:latin typeface="Calibri"/>
                <a:ea typeface="YAFdJs2qTWQ_0"/>
                <a:cs typeface="YAFdJs2qTWQ_0"/>
              </a:rPr>
              <a:t>estudo</a:t>
            </a:r>
            <a:r>
              <a:rPr lang="en-US" sz="2400">
                <a:latin typeface="Calibri"/>
                <a:ea typeface="YAFdJs2qTWQ_0"/>
                <a:cs typeface="YAFdJs2qTWQ_0"/>
              </a:rPr>
              <a:t> </a:t>
            </a:r>
            <a:r>
              <a:rPr lang="en-US" sz="2400" err="1">
                <a:latin typeface="Calibri"/>
                <a:ea typeface="YAFdJs2qTWQ_0"/>
                <a:cs typeface="YAFdJs2qTWQ_0"/>
              </a:rPr>
              <a:t>baseou</a:t>
            </a:r>
            <a:r>
              <a:rPr lang="en-US" sz="2400">
                <a:latin typeface="Calibri"/>
                <a:ea typeface="YAFdJs2qTWQ_0"/>
                <a:cs typeface="YAFdJs2qTWQ_0"/>
              </a:rPr>
              <a:t>-se </a:t>
            </a:r>
            <a:r>
              <a:rPr lang="en-US" sz="2400" err="1">
                <a:latin typeface="Calibri"/>
                <a:ea typeface="YAFdJs2qTWQ_0"/>
                <a:cs typeface="YAFdJs2qTWQ_0"/>
              </a:rPr>
              <a:t>em</a:t>
            </a:r>
            <a:r>
              <a:rPr lang="en-US" sz="2400">
                <a:latin typeface="Calibri"/>
                <a:ea typeface="YAFdJs2qTWQ_0"/>
                <a:cs typeface="YAFdJs2qTWQ_0"/>
              </a:rPr>
              <a:t> </a:t>
            </a:r>
            <a:r>
              <a:rPr lang="en-US" sz="2400" err="1">
                <a:latin typeface="Calibri"/>
                <a:ea typeface="YAFdJs2qTWQ_0"/>
                <a:cs typeface="YAFdJs2qTWQ_0"/>
              </a:rPr>
              <a:t>projetos</a:t>
            </a:r>
            <a:r>
              <a:rPr lang="en-US" sz="2400">
                <a:latin typeface="Calibri"/>
                <a:ea typeface="YAFdJs2qTWQ_0"/>
                <a:cs typeface="YAFdJs2qTWQ_0"/>
              </a:rPr>
              <a:t> </a:t>
            </a:r>
            <a:r>
              <a:rPr lang="en-US" sz="2400" err="1">
                <a:latin typeface="Calibri"/>
                <a:ea typeface="YAFdJs2qTWQ_0"/>
                <a:cs typeface="YAFdJs2qTWQ_0"/>
              </a:rPr>
              <a:t>que</a:t>
            </a:r>
            <a:r>
              <a:rPr lang="en-US" sz="2400">
                <a:latin typeface="Calibri"/>
                <a:ea typeface="YAFdJs2qTWQ_0"/>
                <a:cs typeface="YAFdJs2qTWQ_0"/>
              </a:rPr>
              <a:t>:</a:t>
            </a:r>
            <a:endParaRPr lang="pt-BR"/>
          </a:p>
          <a:p>
            <a:pPr algn="just"/>
            <a:endParaRPr lang="en-US" sz="2400">
              <a:latin typeface="Calibri"/>
              <a:ea typeface="YAFdJs2qTWQ_0"/>
              <a:cs typeface="YAFdJs2qTWQ_0"/>
            </a:endParaRPr>
          </a:p>
          <a:p>
            <a:pPr algn="just">
              <a:buFont typeface="Arial"/>
              <a:buChar char="•"/>
            </a:pPr>
            <a:r>
              <a:rPr lang="en-US" sz="2400">
                <a:latin typeface="Calibri"/>
              </a:rPr>
              <a:t> </a:t>
            </a:r>
            <a:r>
              <a:rPr lang="en-US" sz="2400" b="1" err="1">
                <a:latin typeface="Calibri"/>
                <a:ea typeface="Calibri"/>
                <a:cs typeface="Calibri"/>
              </a:rPr>
              <a:t>Avaliam</a:t>
            </a:r>
            <a:r>
              <a:rPr lang="en-US" sz="2400" b="1">
                <a:latin typeface="Calibri"/>
                <a:ea typeface="Calibri"/>
                <a:cs typeface="Calibri"/>
              </a:rPr>
              <a:t> a </a:t>
            </a:r>
            <a:r>
              <a:rPr lang="en-US" sz="2400" b="1" err="1">
                <a:latin typeface="Calibri"/>
                <a:ea typeface="Calibri"/>
                <a:cs typeface="Calibri"/>
              </a:rPr>
              <a:t>uniformidade</a:t>
            </a:r>
            <a:r>
              <a:rPr lang="en-US" sz="2400" b="1">
                <a:latin typeface="Calibri"/>
                <a:ea typeface="Calibri"/>
                <a:cs typeface="Calibri"/>
              </a:rPr>
              <a:t> da </a:t>
            </a:r>
            <a:r>
              <a:rPr lang="en-US" sz="2400" b="1" err="1">
                <a:latin typeface="Calibri"/>
                <a:ea typeface="Calibri"/>
                <a:cs typeface="Calibri"/>
              </a:rPr>
              <a:t>irrigação</a:t>
            </a:r>
            <a:r>
              <a:rPr lang="en-US" sz="2400" b="1"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latin typeface="Calibri"/>
                <a:ea typeface="Calibri"/>
                <a:cs typeface="Calibri"/>
              </a:rPr>
              <a:t>em</a:t>
            </a:r>
            <a:r>
              <a:rPr lang="en-US" sz="2400" b="1"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latin typeface="Calibri"/>
                <a:ea typeface="Calibri"/>
                <a:cs typeface="Calibri"/>
              </a:rPr>
              <a:t>pivôs</a:t>
            </a:r>
            <a:r>
              <a:rPr lang="en-US" sz="2400" b="1"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latin typeface="Calibri"/>
                <a:ea typeface="Calibri"/>
                <a:cs typeface="Calibri"/>
              </a:rPr>
              <a:t>centrais</a:t>
            </a:r>
            <a:r>
              <a:rPr lang="en-US" sz="2400">
                <a:latin typeface="Calibri"/>
                <a:ea typeface="Calibri"/>
                <a:cs typeface="Calibri"/>
              </a:rPr>
              <a:t>, </a:t>
            </a:r>
            <a:r>
              <a:rPr lang="en-US" sz="2400" err="1">
                <a:latin typeface="Calibri"/>
                <a:ea typeface="Calibri"/>
                <a:cs typeface="Calibri"/>
              </a:rPr>
              <a:t>mostrando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como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falhas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estruturais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ou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operacionais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afetam</a:t>
            </a:r>
            <a:r>
              <a:rPr lang="en-US" sz="2400">
                <a:latin typeface="Calibri"/>
                <a:ea typeface="Calibri"/>
                <a:cs typeface="Calibri"/>
              </a:rPr>
              <a:t> a </a:t>
            </a:r>
            <a:r>
              <a:rPr lang="en-US" sz="2400" err="1">
                <a:latin typeface="Calibri"/>
                <a:ea typeface="Calibri"/>
                <a:cs typeface="Calibri"/>
              </a:rPr>
              <a:t>distribuição</a:t>
            </a:r>
            <a:r>
              <a:rPr lang="en-US" sz="2400">
                <a:latin typeface="Calibri"/>
                <a:ea typeface="Calibri"/>
                <a:cs typeface="Calibri"/>
              </a:rPr>
              <a:t> de </a:t>
            </a:r>
            <a:r>
              <a:rPr lang="en-US" sz="2400" err="1">
                <a:latin typeface="Calibri"/>
                <a:ea typeface="Calibri"/>
                <a:cs typeface="Calibri"/>
              </a:rPr>
              <a:t>água</a:t>
            </a:r>
            <a:r>
              <a:rPr lang="en-US" sz="2400">
                <a:latin typeface="Calibri"/>
                <a:ea typeface="Calibri"/>
                <a:cs typeface="Calibri"/>
              </a:rPr>
              <a:t>, o </a:t>
            </a:r>
            <a:r>
              <a:rPr lang="en-US" sz="2400" err="1">
                <a:latin typeface="Calibri"/>
                <a:ea typeface="Calibri"/>
                <a:cs typeface="Calibri"/>
              </a:rPr>
              <a:t>estresse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hídrico</a:t>
            </a:r>
            <a:r>
              <a:rPr lang="en-US" sz="2400">
                <a:latin typeface="Calibri"/>
                <a:ea typeface="Calibri"/>
                <a:cs typeface="Calibri"/>
              </a:rPr>
              <a:t> e a </a:t>
            </a:r>
            <a:r>
              <a:rPr lang="en-US" sz="2400" err="1">
                <a:latin typeface="Calibri"/>
                <a:ea typeface="Calibri"/>
                <a:cs typeface="Calibri"/>
              </a:rPr>
              <a:t>produtividade</a:t>
            </a:r>
            <a:r>
              <a:rPr lang="en-US" sz="2400">
                <a:latin typeface="Calibri"/>
                <a:ea typeface="Calibri"/>
                <a:cs typeface="Calibri"/>
              </a:rPr>
              <a:t> das </a:t>
            </a:r>
            <a:r>
              <a:rPr lang="en-US" sz="2400" err="1">
                <a:latin typeface="Calibri"/>
                <a:ea typeface="Calibri"/>
                <a:cs typeface="Calibri"/>
              </a:rPr>
              <a:t>culturas</a:t>
            </a:r>
            <a:r>
              <a:rPr lang="en-US" sz="2400">
                <a:latin typeface="Calibri"/>
                <a:ea typeface="Calibri"/>
                <a:cs typeface="Calibri"/>
              </a:rPr>
              <a:t>.</a:t>
            </a:r>
          </a:p>
          <a:p>
            <a:pPr algn="just">
              <a:buFont typeface="Arial"/>
              <a:buChar char="•"/>
            </a:pPr>
            <a:endParaRPr lang="en-US" sz="2400"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latin typeface="Calibri"/>
                <a:ea typeface="Calibri"/>
                <a:cs typeface="Calibri"/>
              </a:rPr>
              <a:t>Utilizam</a:t>
            </a:r>
            <a:r>
              <a:rPr lang="en-US" sz="2400" b="1">
                <a:latin typeface="Calibri"/>
                <a:ea typeface="Calibri"/>
                <a:cs typeface="Calibri"/>
              </a:rPr>
              <a:t> drones e </a:t>
            </a:r>
            <a:r>
              <a:rPr lang="en-US" sz="2400" b="1" err="1">
                <a:latin typeface="Calibri"/>
                <a:ea typeface="Calibri"/>
                <a:cs typeface="Calibri"/>
              </a:rPr>
              <a:t>sensoriamento</a:t>
            </a:r>
            <a:r>
              <a:rPr lang="en-US" sz="2400" b="1"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latin typeface="Calibri"/>
                <a:ea typeface="Calibri"/>
                <a:cs typeface="Calibri"/>
              </a:rPr>
              <a:t>remoto</a:t>
            </a:r>
            <a:r>
              <a:rPr lang="en-US" sz="2400">
                <a:latin typeface="Calibri"/>
                <a:ea typeface="Calibri"/>
                <a:cs typeface="Calibri"/>
              </a:rPr>
              <a:t> (RGB, </a:t>
            </a:r>
            <a:r>
              <a:rPr lang="en-US" sz="2400" err="1">
                <a:latin typeface="Calibri"/>
                <a:ea typeface="Calibri"/>
                <a:cs typeface="Calibri"/>
              </a:rPr>
              <a:t>multiespectral</a:t>
            </a:r>
            <a:r>
              <a:rPr lang="en-US" sz="2400">
                <a:latin typeface="Calibri"/>
                <a:ea typeface="Calibri"/>
                <a:cs typeface="Calibri"/>
              </a:rPr>
              <a:t> e </a:t>
            </a:r>
            <a:r>
              <a:rPr lang="en-US" sz="2400" err="1">
                <a:latin typeface="Calibri"/>
                <a:ea typeface="Calibri"/>
                <a:cs typeface="Calibri"/>
              </a:rPr>
              <a:t>térmico</a:t>
            </a:r>
            <a:r>
              <a:rPr lang="en-US" sz="2400">
                <a:latin typeface="Calibri"/>
                <a:ea typeface="Calibri"/>
                <a:cs typeface="Calibri"/>
              </a:rPr>
              <a:t>) para </a:t>
            </a:r>
            <a:r>
              <a:rPr lang="en-US" sz="2400" err="1">
                <a:latin typeface="Calibri"/>
                <a:ea typeface="Calibri"/>
                <a:cs typeface="Calibri"/>
              </a:rPr>
              <a:t>detectar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estresse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hídrico</a:t>
            </a:r>
            <a:r>
              <a:rPr lang="en-US" sz="2400">
                <a:latin typeface="Calibri"/>
                <a:ea typeface="Calibri"/>
                <a:cs typeface="Calibri"/>
              </a:rPr>
              <a:t>, </a:t>
            </a:r>
            <a:r>
              <a:rPr lang="en-US" sz="2400" err="1">
                <a:latin typeface="Calibri"/>
                <a:ea typeface="Calibri"/>
                <a:cs typeface="Calibri"/>
              </a:rPr>
              <a:t>gerar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mapas</a:t>
            </a:r>
            <a:r>
              <a:rPr lang="en-US" sz="2400">
                <a:latin typeface="Calibri"/>
                <a:ea typeface="Calibri"/>
                <a:cs typeface="Calibri"/>
              </a:rPr>
              <a:t> de </a:t>
            </a:r>
            <a:r>
              <a:rPr lang="en-US" sz="2400" err="1">
                <a:latin typeface="Calibri"/>
                <a:ea typeface="Calibri"/>
                <a:cs typeface="Calibri"/>
              </a:rPr>
              <a:t>variabilidade</a:t>
            </a:r>
            <a:r>
              <a:rPr lang="en-US" sz="2400">
                <a:latin typeface="Calibri"/>
                <a:ea typeface="Calibri"/>
                <a:cs typeface="Calibri"/>
              </a:rPr>
              <a:t> e </a:t>
            </a:r>
            <a:r>
              <a:rPr lang="en-US" sz="2400" err="1">
                <a:latin typeface="Calibri"/>
                <a:ea typeface="Calibri"/>
                <a:cs typeface="Calibri"/>
              </a:rPr>
              <a:t>identificar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falhas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ou</a:t>
            </a:r>
            <a:r>
              <a:rPr lang="en-US" sz="2400">
                <a:latin typeface="Calibri"/>
                <a:ea typeface="Calibri"/>
                <a:cs typeface="Calibri"/>
              </a:rPr>
              <a:t> zonas </a:t>
            </a:r>
            <a:r>
              <a:rPr lang="en-US" sz="2400" err="1">
                <a:latin typeface="Calibri"/>
                <a:ea typeface="Calibri"/>
                <a:cs typeface="Calibri"/>
              </a:rPr>
              <a:t>críticas</a:t>
            </a:r>
            <a:r>
              <a:rPr lang="en-US" sz="2400">
                <a:latin typeface="Calibri"/>
                <a:ea typeface="Calibri"/>
                <a:cs typeface="Calibri"/>
              </a:rPr>
              <a:t> no </a:t>
            </a:r>
            <a:r>
              <a:rPr lang="en-US" sz="2400" err="1">
                <a:latin typeface="Calibri"/>
                <a:ea typeface="Calibri"/>
                <a:cs typeface="Calibri"/>
              </a:rPr>
              <a:t>sistema</a:t>
            </a:r>
            <a:r>
              <a:rPr lang="en-US" sz="2400">
                <a:latin typeface="Calibri"/>
                <a:ea typeface="Calibri"/>
                <a:cs typeface="Calibri"/>
              </a:rPr>
              <a:t> de </a:t>
            </a:r>
            <a:r>
              <a:rPr lang="en-US" sz="2400" err="1">
                <a:latin typeface="Calibri"/>
                <a:ea typeface="Calibri"/>
                <a:cs typeface="Calibri"/>
              </a:rPr>
              <a:t>irrigação</a:t>
            </a:r>
            <a:r>
              <a:rPr lang="en-US" sz="2400">
                <a:latin typeface="Calibri"/>
                <a:ea typeface="Calibri"/>
                <a:cs typeface="Calibri"/>
              </a:rPr>
              <a:t>.</a:t>
            </a:r>
          </a:p>
          <a:p>
            <a:pPr algn="just">
              <a:buFont typeface="Arial"/>
              <a:buChar char="•"/>
            </a:pPr>
            <a:endParaRPr lang="en-US" sz="2400"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latin typeface="Calibri"/>
                <a:ea typeface="Calibri"/>
                <a:cs typeface="Calibri"/>
              </a:rPr>
              <a:t>Integram</a:t>
            </a:r>
            <a:r>
              <a:rPr lang="en-US" sz="2400" b="1"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latin typeface="Calibri"/>
                <a:ea typeface="Calibri"/>
                <a:cs typeface="Calibri"/>
              </a:rPr>
              <a:t>tecnologias</a:t>
            </a:r>
            <a:r>
              <a:rPr lang="en-US" sz="2400" b="1"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latin typeface="Calibri"/>
                <a:ea typeface="Calibri"/>
                <a:cs typeface="Calibri"/>
              </a:rPr>
              <a:t>inteligentes</a:t>
            </a:r>
            <a:r>
              <a:rPr lang="en-US" sz="2400" b="1">
                <a:latin typeface="Calibri"/>
                <a:ea typeface="Calibri"/>
                <a:cs typeface="Calibri"/>
              </a:rPr>
              <a:t>, </a:t>
            </a:r>
            <a:r>
              <a:rPr lang="en-US" sz="2400" b="1" err="1">
                <a:latin typeface="Calibri"/>
                <a:ea typeface="Calibri"/>
                <a:cs typeface="Calibri"/>
              </a:rPr>
              <a:t>como</a:t>
            </a:r>
            <a:r>
              <a:rPr lang="en-US" sz="2400" b="1">
                <a:latin typeface="Calibri"/>
                <a:ea typeface="Calibri"/>
                <a:cs typeface="Calibri"/>
              </a:rPr>
              <a:t> IoT e </a:t>
            </a:r>
            <a:r>
              <a:rPr lang="en-US" sz="2400" b="1" err="1">
                <a:latin typeface="Calibri"/>
                <a:ea typeface="Calibri"/>
                <a:cs typeface="Calibri"/>
              </a:rPr>
              <a:t>análise</a:t>
            </a:r>
            <a:r>
              <a:rPr lang="en-US" sz="2400" b="1">
                <a:latin typeface="Calibri"/>
                <a:ea typeface="Calibri"/>
                <a:cs typeface="Calibri"/>
              </a:rPr>
              <a:t> de dados</a:t>
            </a:r>
            <a:r>
              <a:rPr lang="en-US" sz="2400">
                <a:latin typeface="Calibri"/>
                <a:ea typeface="Calibri"/>
                <a:cs typeface="Calibri"/>
              </a:rPr>
              <a:t>, para </a:t>
            </a:r>
            <a:r>
              <a:rPr lang="en-US" sz="2400" err="1">
                <a:latin typeface="Calibri"/>
                <a:ea typeface="Calibri"/>
                <a:cs typeface="Calibri"/>
              </a:rPr>
              <a:t>aprimorar</a:t>
            </a:r>
            <a:r>
              <a:rPr lang="en-US" sz="2400">
                <a:latin typeface="Calibri"/>
                <a:ea typeface="Calibri"/>
                <a:cs typeface="Calibri"/>
              </a:rPr>
              <a:t> o </a:t>
            </a:r>
            <a:r>
              <a:rPr lang="en-US" sz="2400" err="1">
                <a:latin typeface="Calibri"/>
                <a:ea typeface="Calibri"/>
                <a:cs typeface="Calibri"/>
              </a:rPr>
              <a:t>monitoramento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hídrico</a:t>
            </a:r>
            <a:r>
              <a:rPr lang="en-US" sz="2400">
                <a:latin typeface="Calibri"/>
                <a:ea typeface="Calibri"/>
                <a:cs typeface="Calibri"/>
              </a:rPr>
              <a:t>, </a:t>
            </a:r>
            <a:r>
              <a:rPr lang="en-US" sz="2400" err="1">
                <a:latin typeface="Calibri"/>
                <a:ea typeface="Calibri"/>
                <a:cs typeface="Calibri"/>
              </a:rPr>
              <a:t>aumentar</a:t>
            </a:r>
            <a:r>
              <a:rPr lang="en-US" sz="2400">
                <a:latin typeface="Calibri"/>
                <a:ea typeface="Calibri"/>
                <a:cs typeface="Calibri"/>
              </a:rPr>
              <a:t> a </a:t>
            </a:r>
            <a:r>
              <a:rPr lang="en-US" sz="2400" err="1">
                <a:latin typeface="Calibri"/>
                <a:ea typeface="Calibri"/>
                <a:cs typeface="Calibri"/>
              </a:rPr>
              <a:t>precisão</a:t>
            </a:r>
            <a:r>
              <a:rPr lang="en-US" sz="2400">
                <a:latin typeface="Calibri"/>
                <a:ea typeface="Calibri"/>
                <a:cs typeface="Calibri"/>
              </a:rPr>
              <a:t> no </a:t>
            </a:r>
            <a:r>
              <a:rPr lang="en-US" sz="2400" err="1">
                <a:latin typeface="Calibri"/>
                <a:ea typeface="Calibri"/>
                <a:cs typeface="Calibri"/>
              </a:rPr>
              <a:t>manejo</a:t>
            </a:r>
            <a:r>
              <a:rPr lang="en-US" sz="2400">
                <a:latin typeface="Calibri"/>
                <a:ea typeface="Calibri"/>
                <a:cs typeface="Calibri"/>
              </a:rPr>
              <a:t> da </a:t>
            </a:r>
            <a:r>
              <a:rPr lang="en-US" sz="2400" err="1">
                <a:latin typeface="Calibri"/>
                <a:ea typeface="Calibri"/>
                <a:cs typeface="Calibri"/>
              </a:rPr>
              <a:t>irrigação</a:t>
            </a:r>
            <a:r>
              <a:rPr lang="en-US" sz="2400">
                <a:latin typeface="Calibri"/>
                <a:ea typeface="Calibri"/>
                <a:cs typeface="Calibri"/>
              </a:rPr>
              <a:t> e </a:t>
            </a:r>
            <a:r>
              <a:rPr lang="en-US" sz="2400" err="1">
                <a:latin typeface="Calibri"/>
                <a:ea typeface="Calibri"/>
                <a:cs typeface="Calibri"/>
              </a:rPr>
              <a:t>possibilitar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intervenções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mais</a:t>
            </a:r>
            <a:r>
              <a:rPr lang="en-US" sz="2400">
                <a:latin typeface="Calibri"/>
                <a:ea typeface="Calibri"/>
                <a:cs typeface="Calibri"/>
              </a:rPr>
              <a:t> </a:t>
            </a:r>
            <a:r>
              <a:rPr lang="en-US" sz="2400" err="1">
                <a:latin typeface="Calibri"/>
                <a:ea typeface="Calibri"/>
                <a:cs typeface="Calibri"/>
              </a:rPr>
              <a:t>rápidas</a:t>
            </a:r>
            <a:r>
              <a:rPr lang="en-US" sz="2400">
                <a:latin typeface="Calibri"/>
                <a:ea typeface="Calibri"/>
                <a:cs typeface="Calibri"/>
              </a:rPr>
              <a:t> e</a:t>
            </a:r>
            <a:r>
              <a:rPr lang="en-US" sz="2400">
                <a:latin typeface="Calibri"/>
              </a:rPr>
              <a:t> </a:t>
            </a:r>
            <a:r>
              <a:rPr lang="en-US" sz="2400" err="1">
                <a:latin typeface="Calibri"/>
              </a:rPr>
              <a:t>eficientes</a:t>
            </a:r>
            <a:r>
              <a:rPr lang="en-US" sz="2400">
                <a:latin typeface="Calibri"/>
              </a:rPr>
              <a:t>.</a:t>
            </a:r>
            <a:endParaRPr lang="en-US">
              <a:latin typeface="Calibri"/>
            </a:endParaRPr>
          </a:p>
          <a:p>
            <a:pPr>
              <a:buFont typeface=""/>
              <a:buChar char="•"/>
            </a:pPr>
            <a:endParaRPr lang="en-US" sz="2400">
              <a:latin typeface="Calibri"/>
            </a:endParaRP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1005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E6ECD892-DFF6-5D4D-AC35-D35A8608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98845BCE-819C-E6BE-3344-67AD4B4DAA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33045"/>
            <a:ext cx="10495280" cy="64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sz="3600"/>
              <a:t>Referencial Teórico</a:t>
            </a:r>
            <a:endParaRPr lang="pt-BR"/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9F1F5DCE-D813-FBC0-6C35-E0F854CC68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433946" y="5922842"/>
            <a:ext cx="2261388" cy="6771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18670C-2636-6254-DF78-AE4C1C826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5333"/>
            <a:ext cx="10497015" cy="4685874"/>
          </a:xfrm>
        </p:spPr>
        <p:txBody>
          <a:bodyPr>
            <a:normAutofit/>
          </a:bodyPr>
          <a:lstStyle/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632FC9C-3CEA-03E3-B708-D25FFA68D6AE}"/>
              </a:ext>
            </a:extLst>
          </p:cNvPr>
          <p:cNvSpPr txBox="1"/>
          <p:nvPr/>
        </p:nvSpPr>
        <p:spPr>
          <a:xfrm>
            <a:off x="834019" y="1122680"/>
            <a:ext cx="10533975" cy="49244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err="1">
                <a:latin typeface="Calibri"/>
              </a:rPr>
              <a:t>Artigo</a:t>
            </a:r>
            <a:r>
              <a:rPr lang="en-US" sz="2000" b="1">
                <a:latin typeface="Calibri"/>
              </a:rPr>
              <a:t>: </a:t>
            </a:r>
            <a:r>
              <a:rPr lang="en-US" sz="2000" i="1">
                <a:latin typeface="Calibri"/>
              </a:rPr>
              <a:t>Remote Sensing Using Unmanned Aerial Vehicles for Water Stress Detection: A Review Focusing on Specialty Crops</a:t>
            </a:r>
            <a:endParaRPr lang="pt-BR" sz="2000">
              <a:latin typeface="Calibri"/>
            </a:endParaRPr>
          </a:p>
          <a:p>
            <a:endParaRPr lang="en-US" sz="2000" b="1">
              <a:latin typeface="Calibri"/>
            </a:endParaRPr>
          </a:p>
          <a:p>
            <a:pPr algn="just"/>
            <a:r>
              <a:rPr lang="en-US" sz="2000" b="1" err="1">
                <a:latin typeface="Calibri"/>
              </a:rPr>
              <a:t>Objetivo</a:t>
            </a:r>
            <a:r>
              <a:rPr lang="en-US" sz="2000" b="1">
                <a:latin typeface="Calibri"/>
              </a:rPr>
              <a:t>: </a:t>
            </a:r>
            <a:r>
              <a:rPr lang="en-US" sz="2000" err="1">
                <a:latin typeface="Calibri"/>
              </a:rPr>
              <a:t>Apresentar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uma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revisão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abrangente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sobre</a:t>
            </a:r>
            <a:r>
              <a:rPr lang="en-US" sz="2000">
                <a:latin typeface="Calibri"/>
              </a:rPr>
              <a:t> o </a:t>
            </a:r>
            <a:r>
              <a:rPr lang="en-US" sz="2000" err="1">
                <a:latin typeface="Calibri"/>
              </a:rPr>
              <a:t>uso</a:t>
            </a:r>
            <a:r>
              <a:rPr lang="en-US" sz="2000">
                <a:latin typeface="Calibri"/>
              </a:rPr>
              <a:t> de drones no </a:t>
            </a:r>
            <a:r>
              <a:rPr lang="en-US" sz="2000" err="1">
                <a:latin typeface="Calibri"/>
              </a:rPr>
              <a:t>monitoramento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agrícola</a:t>
            </a:r>
            <a:r>
              <a:rPr lang="en-US" sz="2000">
                <a:latin typeface="Calibri"/>
              </a:rPr>
              <a:t>, com </a:t>
            </a:r>
            <a:r>
              <a:rPr lang="en-US" sz="2000" err="1">
                <a:latin typeface="Calibri"/>
              </a:rPr>
              <a:t>foco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na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detecção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estresse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hídrico</a:t>
            </a:r>
            <a:r>
              <a:rPr lang="en-US" sz="2000">
                <a:latin typeface="Calibri"/>
              </a:rPr>
              <a:t> e no </a:t>
            </a:r>
            <a:r>
              <a:rPr lang="en-US" sz="2000" err="1">
                <a:latin typeface="Calibri"/>
              </a:rPr>
              <a:t>potencial</a:t>
            </a:r>
            <a:r>
              <a:rPr lang="en-US" sz="2000">
                <a:latin typeface="Calibri"/>
              </a:rPr>
              <a:t> dessas </a:t>
            </a:r>
            <a:r>
              <a:rPr lang="en-US" sz="2000" err="1">
                <a:latin typeface="Calibri"/>
              </a:rPr>
              <a:t>tecnologias</a:t>
            </a:r>
            <a:r>
              <a:rPr lang="en-US" sz="2000">
                <a:latin typeface="Calibri"/>
              </a:rPr>
              <a:t> para </a:t>
            </a:r>
            <a:r>
              <a:rPr lang="en-US" sz="2000" err="1">
                <a:latin typeface="Calibri"/>
              </a:rPr>
              <a:t>melhorar</a:t>
            </a:r>
            <a:r>
              <a:rPr lang="en-US" sz="2000">
                <a:latin typeface="Calibri"/>
              </a:rPr>
              <a:t> a </a:t>
            </a:r>
            <a:r>
              <a:rPr lang="en-US" sz="2000" err="1">
                <a:latin typeface="Calibri"/>
              </a:rPr>
              <a:t>tomada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decisão</a:t>
            </a:r>
            <a:r>
              <a:rPr lang="en-US" sz="2000">
                <a:latin typeface="Calibri"/>
              </a:rPr>
              <a:t> no campo.</a:t>
            </a:r>
            <a:endParaRPr lang="en-US"/>
          </a:p>
          <a:p>
            <a:pPr algn="just"/>
            <a:endParaRPr lang="en-US" sz="2000">
              <a:latin typeface="Calibri"/>
            </a:endParaRPr>
          </a:p>
          <a:p>
            <a:pPr algn="just"/>
            <a:r>
              <a:rPr lang="en-US" sz="2000" b="1">
                <a:latin typeface="Calibri"/>
              </a:rPr>
              <a:t>Conjunto: </a:t>
            </a:r>
            <a:r>
              <a:rPr lang="en-US" sz="2000">
                <a:latin typeface="Calibri"/>
              </a:rPr>
              <a:t>Sistemas </a:t>
            </a:r>
            <a:r>
              <a:rPr lang="en-US" sz="2000" err="1">
                <a:latin typeface="Calibri"/>
              </a:rPr>
              <a:t>embarcados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em</a:t>
            </a:r>
            <a:r>
              <a:rPr lang="en-US" sz="2000">
                <a:latin typeface="Calibri"/>
              </a:rPr>
              <a:t> VANTs, </a:t>
            </a:r>
            <a:r>
              <a:rPr lang="en-US" sz="2000" err="1">
                <a:latin typeface="Calibri"/>
              </a:rPr>
              <a:t>sensores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ópticos</a:t>
            </a:r>
            <a:r>
              <a:rPr lang="en-US" sz="2000">
                <a:latin typeface="Calibri"/>
              </a:rPr>
              <a:t> (RGB, </a:t>
            </a:r>
            <a:r>
              <a:rPr lang="en-US" sz="2000" err="1">
                <a:latin typeface="Calibri"/>
              </a:rPr>
              <a:t>multiespectral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térmico</a:t>
            </a:r>
            <a:r>
              <a:rPr lang="en-US" sz="2000">
                <a:latin typeface="Calibri"/>
              </a:rPr>
              <a:t>), </a:t>
            </a:r>
            <a:r>
              <a:rPr lang="en-US" sz="2000" err="1">
                <a:latin typeface="Calibri"/>
              </a:rPr>
              <a:t>plataformas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voo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algoritmos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processamento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que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permitem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avaliação</a:t>
            </a:r>
            <a:r>
              <a:rPr lang="en-US" sz="2000">
                <a:latin typeface="Calibri"/>
              </a:rPr>
              <a:t> do </a:t>
            </a:r>
            <a:r>
              <a:rPr lang="en-US" sz="2000" err="1">
                <a:latin typeface="Calibri"/>
              </a:rPr>
              <a:t>estado</a:t>
            </a:r>
            <a:r>
              <a:rPr lang="en-US" sz="2000">
                <a:latin typeface="Calibri"/>
              </a:rPr>
              <a:t> das </a:t>
            </a:r>
            <a:r>
              <a:rPr lang="en-US" sz="2000" err="1">
                <a:latin typeface="Calibri"/>
              </a:rPr>
              <a:t>plantas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apoio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manejo</a:t>
            </a:r>
            <a:r>
              <a:rPr lang="en-US" sz="2000">
                <a:latin typeface="Calibri"/>
              </a:rPr>
              <a:t> da </a:t>
            </a:r>
            <a:r>
              <a:rPr lang="en-US" sz="2000" err="1">
                <a:latin typeface="Calibri"/>
              </a:rPr>
              <a:t>irrigação</a:t>
            </a:r>
            <a:r>
              <a:rPr lang="en-US" sz="2000">
                <a:latin typeface="Calibri"/>
              </a:rPr>
              <a:t>.</a:t>
            </a:r>
          </a:p>
          <a:p>
            <a:pPr algn="just"/>
            <a:endParaRPr lang="en-US" sz="2000">
              <a:latin typeface="Calibri"/>
            </a:endParaRPr>
          </a:p>
          <a:p>
            <a:pPr algn="just"/>
            <a:r>
              <a:rPr lang="en-US" sz="2000" b="1" err="1">
                <a:latin typeface="Calibri"/>
              </a:rPr>
              <a:t>Resultados</a:t>
            </a:r>
            <a:r>
              <a:rPr lang="en-US" sz="2000" b="1">
                <a:latin typeface="Calibri"/>
              </a:rPr>
              <a:t>: </a:t>
            </a:r>
            <a:r>
              <a:rPr lang="en-US" sz="2000">
                <a:latin typeface="Calibri"/>
              </a:rPr>
              <a:t>A </a:t>
            </a:r>
            <a:r>
              <a:rPr lang="en-US" sz="2000" err="1">
                <a:latin typeface="Calibri"/>
              </a:rPr>
              <a:t>revisão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demonstra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que</a:t>
            </a:r>
            <a:r>
              <a:rPr lang="en-US" sz="2000">
                <a:latin typeface="Calibri"/>
              </a:rPr>
              <a:t> drones </a:t>
            </a:r>
            <a:r>
              <a:rPr lang="en-US" sz="2000" err="1">
                <a:latin typeface="Calibri"/>
              </a:rPr>
              <a:t>fornecem</a:t>
            </a:r>
            <a:r>
              <a:rPr lang="en-US" sz="2000">
                <a:latin typeface="Calibri"/>
              </a:rPr>
              <a:t> dados de </a:t>
            </a:r>
            <a:r>
              <a:rPr lang="en-US" sz="2000" err="1">
                <a:latin typeface="Calibri"/>
              </a:rPr>
              <a:t>alta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resolução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espacial</a:t>
            </a:r>
            <a:r>
              <a:rPr lang="en-US" sz="2000">
                <a:latin typeface="Calibri"/>
              </a:rPr>
              <a:t> e temporal, </a:t>
            </a:r>
            <a:r>
              <a:rPr lang="en-US" sz="2000" err="1">
                <a:latin typeface="Calibri"/>
              </a:rPr>
              <a:t>superam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limitações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métodos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tradicionais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permitem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identificar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estresse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hídrico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variabilidade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dentro</a:t>
            </a:r>
            <a:r>
              <a:rPr lang="en-US" sz="2000">
                <a:latin typeface="Calibri"/>
              </a:rPr>
              <a:t> da </a:t>
            </a:r>
            <a:r>
              <a:rPr lang="en-US" sz="2000" err="1">
                <a:latin typeface="Calibri"/>
              </a:rPr>
              <a:t>área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cultivada</a:t>
            </a:r>
            <a:r>
              <a:rPr lang="en-US" sz="2000">
                <a:latin typeface="Calibri"/>
              </a:rPr>
              <a:t> e se </a:t>
            </a:r>
            <a:r>
              <a:rPr lang="en-US" sz="2000" err="1">
                <a:latin typeface="Calibri"/>
              </a:rPr>
              <a:t>consolidam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como</a:t>
            </a:r>
            <a:r>
              <a:rPr lang="en-US" sz="2000">
                <a:latin typeface="Calibri"/>
              </a:rPr>
              <a:t> ferramentas </a:t>
            </a:r>
            <a:r>
              <a:rPr lang="en-US" sz="2000" err="1">
                <a:latin typeface="Calibri"/>
              </a:rPr>
              <a:t>promissoras</a:t>
            </a:r>
            <a:r>
              <a:rPr lang="en-US" sz="2000">
                <a:latin typeface="Calibri"/>
              </a:rPr>
              <a:t> para </a:t>
            </a:r>
            <a:r>
              <a:rPr lang="en-US" sz="2000" err="1">
                <a:latin typeface="Calibri"/>
              </a:rPr>
              <a:t>otimizar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irrigação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estimar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biomassa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detectar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pragas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aumentar</a:t>
            </a:r>
            <a:r>
              <a:rPr lang="en-US" sz="2000">
                <a:latin typeface="Calibri"/>
              </a:rPr>
              <a:t> a </a:t>
            </a:r>
            <a:r>
              <a:rPr lang="en-US" sz="2000" err="1">
                <a:latin typeface="Calibri"/>
              </a:rPr>
              <a:t>eficiência</a:t>
            </a:r>
            <a:r>
              <a:rPr lang="en-US" sz="2000">
                <a:latin typeface="Calibri"/>
              </a:rPr>
              <a:t> no </a:t>
            </a:r>
            <a:r>
              <a:rPr lang="en-US" sz="2000" err="1">
                <a:latin typeface="Calibri"/>
              </a:rPr>
              <a:t>uso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recursos</a:t>
            </a:r>
            <a:r>
              <a:rPr lang="en-US" sz="2000">
                <a:latin typeface="Calibri"/>
              </a:rPr>
              <a:t>.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4661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F00D138C-274E-248A-921E-2BD05C350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D4A470A7-FB62-9D44-1287-241EDE6A6D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33045"/>
            <a:ext cx="10495280" cy="64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sz="3600"/>
              <a:t>Referencial Teórico</a:t>
            </a:r>
            <a:endParaRPr lang="pt-BR"/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E3FCAC59-0006-BD06-DFD1-DE4E0D32C1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8314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1EACBF-9004-C5A5-5B69-569723BA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5333"/>
            <a:ext cx="10497015" cy="4685874"/>
          </a:xfrm>
        </p:spPr>
        <p:txBody>
          <a:bodyPr>
            <a:normAutofit/>
          </a:bodyPr>
          <a:lstStyle/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  <a:p>
            <a:endParaRPr lang="pt-BR">
              <a:solidFill>
                <a:schemeClr val="tx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EFA358F-002A-55BE-B65A-0D5E30E81B8C}"/>
              </a:ext>
            </a:extLst>
          </p:cNvPr>
          <p:cNvSpPr txBox="1"/>
          <p:nvPr/>
        </p:nvSpPr>
        <p:spPr>
          <a:xfrm>
            <a:off x="833755" y="1041400"/>
            <a:ext cx="10528300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err="1">
                <a:latin typeface="Calibri"/>
              </a:rPr>
              <a:t>Artigo</a:t>
            </a:r>
            <a:r>
              <a:rPr lang="en-US" sz="2000" b="1">
                <a:latin typeface="Calibri"/>
              </a:rPr>
              <a:t>: </a:t>
            </a:r>
            <a:r>
              <a:rPr lang="en-US" sz="2000" i="1">
                <a:latin typeface="Calibri"/>
              </a:rPr>
              <a:t>Mapping Maize Water Stress Based on UAV Multispectral Remote Sensing</a:t>
            </a:r>
            <a:endParaRPr lang="pt-BR" sz="2000">
              <a:latin typeface="Calibri"/>
            </a:endParaRPr>
          </a:p>
          <a:p>
            <a:pPr algn="ctr"/>
            <a:endParaRPr lang="en-US" sz="2000" i="1">
              <a:latin typeface="Calibri"/>
            </a:endParaRPr>
          </a:p>
          <a:p>
            <a:pPr algn="just"/>
            <a:r>
              <a:rPr lang="en-US" sz="2000" b="1" err="1">
                <a:latin typeface="Calibri"/>
              </a:rPr>
              <a:t>Objetivo</a:t>
            </a:r>
            <a:r>
              <a:rPr lang="en-US" sz="2000" b="1">
                <a:latin typeface="Calibri"/>
              </a:rPr>
              <a:t>: </a:t>
            </a:r>
            <a:r>
              <a:rPr lang="en-US" sz="2000" err="1">
                <a:latin typeface="Calibri"/>
              </a:rPr>
              <a:t>Investigar</a:t>
            </a:r>
            <a:r>
              <a:rPr lang="en-US" sz="2000">
                <a:latin typeface="Calibri"/>
              </a:rPr>
              <a:t> o </a:t>
            </a:r>
            <a:r>
              <a:rPr lang="en-US" sz="2000" err="1">
                <a:latin typeface="Calibri"/>
              </a:rPr>
              <a:t>estresse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hídrico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milho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irrigado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por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pivô</a:t>
            </a:r>
            <a:r>
              <a:rPr lang="en-US" sz="2000">
                <a:latin typeface="Calibri"/>
              </a:rPr>
              <a:t> central </a:t>
            </a:r>
            <a:r>
              <a:rPr lang="en-US" sz="2000" err="1">
                <a:latin typeface="Calibri"/>
              </a:rPr>
              <a:t>utilizando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sensoriamento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remoto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multiespectral</a:t>
            </a:r>
            <a:r>
              <a:rPr lang="en-US" sz="2000">
                <a:latin typeface="Calibri"/>
              </a:rPr>
              <a:t> a </a:t>
            </a:r>
            <a:r>
              <a:rPr lang="en-US" sz="2000" err="1">
                <a:latin typeface="Calibri"/>
              </a:rPr>
              <a:t>partir</a:t>
            </a:r>
            <a:r>
              <a:rPr lang="en-US" sz="2000">
                <a:latin typeface="Calibri"/>
              </a:rPr>
              <a:t> de VANTs, </a:t>
            </a:r>
            <a:r>
              <a:rPr lang="en-US" sz="2000" err="1">
                <a:latin typeface="Calibri"/>
              </a:rPr>
              <a:t>relacionando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índices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vegetação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ao</a:t>
            </a:r>
            <a:r>
              <a:rPr lang="en-US" sz="2000">
                <a:latin typeface="Calibri"/>
              </a:rPr>
              <a:t> CWSI </a:t>
            </a:r>
            <a:r>
              <a:rPr lang="en-US" sz="2000" err="1">
                <a:latin typeface="Calibri"/>
              </a:rPr>
              <a:t>medido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em</a:t>
            </a:r>
            <a:r>
              <a:rPr lang="en-US" sz="2000">
                <a:latin typeface="Calibri"/>
              </a:rPr>
              <a:t> campo.</a:t>
            </a:r>
          </a:p>
          <a:p>
            <a:pPr algn="just"/>
            <a:endParaRPr lang="en-US" sz="2000">
              <a:latin typeface="Calibri"/>
            </a:endParaRPr>
          </a:p>
          <a:p>
            <a:pPr algn="just"/>
            <a:r>
              <a:rPr lang="en-US" sz="2000" b="1">
                <a:latin typeface="Calibri"/>
              </a:rPr>
              <a:t>Conjunto: </a:t>
            </a:r>
            <a:r>
              <a:rPr lang="en-US" sz="2000">
                <a:latin typeface="Calibri"/>
              </a:rPr>
              <a:t>Drone </a:t>
            </a:r>
            <a:r>
              <a:rPr lang="en-US" sz="2000" err="1">
                <a:latin typeface="Calibri"/>
              </a:rPr>
              <a:t>equipado</a:t>
            </a:r>
            <a:r>
              <a:rPr lang="en-US" sz="2000">
                <a:latin typeface="Calibri"/>
              </a:rPr>
              <a:t> com </a:t>
            </a:r>
            <a:r>
              <a:rPr lang="en-US" sz="2000" err="1">
                <a:latin typeface="Calibri"/>
              </a:rPr>
              <a:t>câmera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multiespectral</a:t>
            </a:r>
            <a:r>
              <a:rPr lang="en-US" sz="2000">
                <a:latin typeface="Calibri"/>
              </a:rPr>
              <a:t>; imagens de </a:t>
            </a:r>
            <a:r>
              <a:rPr lang="en-US" sz="2000" err="1">
                <a:latin typeface="Calibri"/>
              </a:rPr>
              <a:t>alta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resolução</a:t>
            </a:r>
            <a:r>
              <a:rPr lang="en-US" sz="2000">
                <a:latin typeface="Calibri"/>
              </a:rPr>
              <a:t>; </a:t>
            </a:r>
            <a:r>
              <a:rPr lang="en-US" sz="2000" err="1">
                <a:latin typeface="Calibri"/>
              </a:rPr>
              <a:t>índices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espectrais</a:t>
            </a:r>
            <a:r>
              <a:rPr lang="en-US" sz="2000">
                <a:latin typeface="Calibri"/>
              </a:rPr>
              <a:t> (TCARI/RDVI, TCARI/SAVI); </a:t>
            </a:r>
            <a:r>
              <a:rPr lang="en-US" sz="2000" err="1">
                <a:latin typeface="Calibri"/>
              </a:rPr>
              <a:t>modelos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empíricos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regressão</a:t>
            </a:r>
            <a:r>
              <a:rPr lang="en-US" sz="2000">
                <a:latin typeface="Calibri"/>
              </a:rPr>
              <a:t>; dados de campo para </a:t>
            </a:r>
            <a:r>
              <a:rPr lang="en-US" sz="2000" err="1">
                <a:latin typeface="Calibri"/>
              </a:rPr>
              <a:t>cálculo</a:t>
            </a:r>
            <a:r>
              <a:rPr lang="en-US" sz="2000">
                <a:latin typeface="Calibri"/>
              </a:rPr>
              <a:t> do </a:t>
            </a:r>
            <a:r>
              <a:rPr lang="en-US" sz="2000" i="1">
                <a:latin typeface="Calibri"/>
              </a:rPr>
              <a:t>Crop Water Stress Index</a:t>
            </a:r>
            <a:r>
              <a:rPr lang="en-US" sz="2000">
                <a:latin typeface="Calibri"/>
              </a:rPr>
              <a:t> (CWSI).</a:t>
            </a:r>
          </a:p>
          <a:p>
            <a:pPr algn="just"/>
            <a:endParaRPr lang="en-US" sz="2000">
              <a:latin typeface="Calibri"/>
            </a:endParaRPr>
          </a:p>
          <a:p>
            <a:pPr algn="just"/>
            <a:r>
              <a:rPr lang="en-US" sz="2000" b="1" err="1">
                <a:latin typeface="Calibri"/>
              </a:rPr>
              <a:t>Resultados</a:t>
            </a:r>
            <a:r>
              <a:rPr lang="en-US" sz="2000" b="1">
                <a:latin typeface="Calibri"/>
              </a:rPr>
              <a:t>: </a:t>
            </a:r>
            <a:r>
              <a:rPr lang="en-US" sz="2000" err="1">
                <a:latin typeface="Calibri"/>
              </a:rPr>
              <a:t>Os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índices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espectrais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apresentaram</a:t>
            </a:r>
            <a:r>
              <a:rPr lang="en-US" sz="2000">
                <a:latin typeface="Calibri"/>
              </a:rPr>
              <a:t> forte </a:t>
            </a:r>
            <a:r>
              <a:rPr lang="en-US" sz="2000" err="1">
                <a:latin typeface="Calibri"/>
              </a:rPr>
              <a:t>correlação</a:t>
            </a:r>
            <a:r>
              <a:rPr lang="en-US" sz="2000">
                <a:latin typeface="Calibri"/>
              </a:rPr>
              <a:t> com o CWSI, </a:t>
            </a:r>
            <a:r>
              <a:rPr lang="en-US" sz="2000" err="1">
                <a:latin typeface="Calibri"/>
              </a:rPr>
              <a:t>possibilitando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gerar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mapas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precisos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estresse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hídrico</a:t>
            </a:r>
            <a:r>
              <a:rPr lang="en-US" sz="2000">
                <a:latin typeface="Calibri"/>
              </a:rPr>
              <a:t>. </a:t>
            </a:r>
            <a:r>
              <a:rPr lang="en-US" sz="2000" err="1">
                <a:latin typeface="Calibri"/>
              </a:rPr>
              <a:t>Os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mapas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revelam</a:t>
            </a:r>
            <a:r>
              <a:rPr lang="en-US" sz="2000">
                <a:latin typeface="Calibri"/>
              </a:rPr>
              <a:t> a </a:t>
            </a:r>
            <a:r>
              <a:rPr lang="en-US" sz="2000" err="1">
                <a:latin typeface="Calibri"/>
              </a:rPr>
              <a:t>variabilidade</a:t>
            </a:r>
            <a:r>
              <a:rPr lang="en-US" sz="2000">
                <a:latin typeface="Calibri"/>
              </a:rPr>
              <a:t> intra-</a:t>
            </a:r>
            <a:r>
              <a:rPr lang="en-US" sz="2000" err="1">
                <a:latin typeface="Calibri"/>
              </a:rPr>
              <a:t>talhão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causada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pelas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diferentes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lâminas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aplicadas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pelo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pivô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demonstrando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que</a:t>
            </a:r>
            <a:r>
              <a:rPr lang="en-US" sz="2000">
                <a:latin typeface="Calibri"/>
              </a:rPr>
              <a:t> UAVs </a:t>
            </a:r>
            <a:r>
              <a:rPr lang="en-US" sz="2000" err="1">
                <a:latin typeface="Calibri"/>
              </a:rPr>
              <a:t>multiespectrais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são</a:t>
            </a:r>
            <a:r>
              <a:rPr lang="en-US" sz="2000">
                <a:latin typeface="Calibri"/>
              </a:rPr>
              <a:t> ferramentas </a:t>
            </a:r>
            <a:r>
              <a:rPr lang="en-US" sz="2000" err="1">
                <a:latin typeface="Calibri"/>
              </a:rPr>
              <a:t>eficazes</a:t>
            </a:r>
            <a:r>
              <a:rPr lang="en-US" sz="2000">
                <a:latin typeface="Calibri"/>
              </a:rPr>
              <a:t> para </a:t>
            </a:r>
            <a:r>
              <a:rPr lang="en-US" sz="2000" err="1">
                <a:latin typeface="Calibri"/>
              </a:rPr>
              <a:t>monitorar</a:t>
            </a:r>
            <a:r>
              <a:rPr lang="en-US" sz="2000">
                <a:latin typeface="Calibri"/>
              </a:rPr>
              <a:t> o </a:t>
            </a:r>
            <a:r>
              <a:rPr lang="en-US" sz="2000" err="1">
                <a:latin typeface="Calibri"/>
              </a:rPr>
              <a:t>estado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hídrico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apoiar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decisões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irrigação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na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agricultura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precisão</a:t>
            </a:r>
            <a:r>
              <a:rPr lang="en-US" sz="2000">
                <a:latin typeface="Calibri"/>
              </a:rPr>
              <a:t>.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6416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DEB3D-8014-3B28-91BC-8C7F58D49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199DF1-1327-F0A5-347E-716ACE391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117" y="2305685"/>
            <a:ext cx="6232168" cy="2244547"/>
          </a:xfrm>
        </p:spPr>
        <p:txBody>
          <a:bodyPr>
            <a:normAutofit/>
          </a:bodyPr>
          <a:lstStyle/>
          <a:p>
            <a:r>
              <a:rPr lang="pt-BR"/>
              <a:t>Metodologia</a:t>
            </a:r>
          </a:p>
          <a:p>
            <a:endParaRPr lang="pt-BR"/>
          </a:p>
        </p:txBody>
      </p:sp>
      <p:pic>
        <p:nvPicPr>
          <p:cNvPr id="4" name="Google Shape;91;p13" descr="Logo">
            <a:extLst>
              <a:ext uri="{FF2B5EF4-FFF2-40B4-BE49-F238E27FC236}">
                <a16:creationId xmlns:a16="http://schemas.microsoft.com/office/drawing/2014/main" id="{DD2C3947-D405-E87C-B1E7-B22464F8713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1184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698810" y="124506"/>
            <a:ext cx="11090879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pt-BR" sz="3200"/>
              <a:t>Metodologia – Arquitetura do Projeto</a:t>
            </a:r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3AE746-84CD-E670-F14F-68EA1BCE1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127" y="1240186"/>
            <a:ext cx="11389112" cy="4871729"/>
          </a:xfrm>
        </p:spPr>
        <p:txBody>
          <a:bodyPr/>
          <a:lstStyle/>
          <a:p>
            <a:pPr algn="just"/>
            <a:endParaRPr lang="pt-BR"/>
          </a:p>
          <a:p>
            <a:endParaRPr lang="pt-BR"/>
          </a:p>
        </p:txBody>
      </p:sp>
      <p:pic>
        <p:nvPicPr>
          <p:cNvPr id="2" name="Imagem 1" descr="Diagrama&#10;&#10;O conteúdo gerado por IA pode estar incorreto.">
            <a:extLst>
              <a:ext uri="{FF2B5EF4-FFF2-40B4-BE49-F238E27FC236}">
                <a16:creationId xmlns:a16="http://schemas.microsoft.com/office/drawing/2014/main" id="{1AC70821-9890-F4A8-2B70-6E1826DFF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64" y="741680"/>
            <a:ext cx="2882832" cy="602488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FA3BCAF-AD0D-8165-5765-951A7B232A2E}"/>
              </a:ext>
            </a:extLst>
          </p:cNvPr>
          <p:cNvSpPr txBox="1"/>
          <p:nvPr/>
        </p:nvSpPr>
        <p:spPr>
          <a:xfrm>
            <a:off x="3743960" y="387350"/>
            <a:ext cx="7665085" cy="7161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>
              <a:latin typeface="Calibri"/>
            </a:endParaRPr>
          </a:p>
          <a:p>
            <a:pPr marL="285750" indent="-285750" algn="just">
              <a:buChar char="•"/>
            </a:pPr>
            <a:r>
              <a:rPr lang="en-US" sz="1800" b="1">
                <a:latin typeface="Calibri"/>
              </a:rPr>
              <a:t>Coleta </a:t>
            </a:r>
            <a:r>
              <a:rPr lang="en-US" sz="1800" b="1" err="1">
                <a:latin typeface="Calibri"/>
              </a:rPr>
              <a:t>inicial</a:t>
            </a:r>
            <a:r>
              <a:rPr lang="en-US" sz="1800" b="1">
                <a:latin typeface="Calibri"/>
              </a:rPr>
              <a:t> </a:t>
            </a:r>
            <a:r>
              <a:rPr lang="en-US" sz="1800" b="1" err="1">
                <a:latin typeface="Calibri"/>
              </a:rPr>
              <a:t>pelos</a:t>
            </a:r>
            <a:r>
              <a:rPr lang="en-US" sz="1800" b="1">
                <a:latin typeface="Calibri"/>
              </a:rPr>
              <a:t> </a:t>
            </a:r>
            <a:r>
              <a:rPr lang="en-US" sz="1800" b="1" err="1">
                <a:latin typeface="Calibri"/>
              </a:rPr>
              <a:t>pivôs</a:t>
            </a:r>
            <a:r>
              <a:rPr lang="en-US" sz="1800">
                <a:latin typeface="Calibri"/>
              </a:rPr>
              <a:t>: </a:t>
            </a:r>
            <a:r>
              <a:rPr lang="en-US" sz="1800" err="1">
                <a:latin typeface="Calibri"/>
              </a:rPr>
              <a:t>Captura</a:t>
            </a:r>
            <a:r>
              <a:rPr lang="en-US" sz="1800">
                <a:latin typeface="Calibri"/>
              </a:rPr>
              <a:t> de imagens </a:t>
            </a:r>
            <a:r>
              <a:rPr lang="en-US" sz="1800" err="1">
                <a:latin typeface="Calibri"/>
              </a:rPr>
              <a:t>multiespectrais</a:t>
            </a:r>
            <a:r>
              <a:rPr lang="en-US" sz="1800">
                <a:latin typeface="Calibri"/>
              </a:rPr>
              <a:t> e dados </a:t>
            </a:r>
            <a:r>
              <a:rPr lang="en-US" sz="1800" err="1">
                <a:latin typeface="Calibri"/>
              </a:rPr>
              <a:t>térmicos</a:t>
            </a:r>
            <a:r>
              <a:rPr lang="en-US" sz="1800">
                <a:latin typeface="Calibri"/>
              </a:rPr>
              <a:t>, </a:t>
            </a:r>
            <a:r>
              <a:rPr lang="en-US" sz="1800" err="1">
                <a:latin typeface="Calibri"/>
              </a:rPr>
              <a:t>além</a:t>
            </a:r>
            <a:r>
              <a:rPr lang="en-US" sz="1800">
                <a:latin typeface="Calibri"/>
              </a:rPr>
              <a:t> de </a:t>
            </a:r>
            <a:r>
              <a:rPr lang="en-US" sz="1800" err="1">
                <a:latin typeface="Calibri"/>
              </a:rPr>
              <a:t>informações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operacionais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como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vazão</a:t>
            </a:r>
            <a:r>
              <a:rPr lang="en-US" sz="1800">
                <a:latin typeface="Calibri"/>
              </a:rPr>
              <a:t>, </a:t>
            </a:r>
            <a:r>
              <a:rPr lang="en-US" sz="1800" err="1">
                <a:latin typeface="Calibri"/>
              </a:rPr>
              <a:t>pressão</a:t>
            </a:r>
            <a:r>
              <a:rPr lang="en-US" sz="1800">
                <a:latin typeface="Calibri"/>
              </a:rPr>
              <a:t>, </a:t>
            </a:r>
            <a:r>
              <a:rPr lang="en-US" sz="1800" err="1">
                <a:latin typeface="Calibri"/>
              </a:rPr>
              <a:t>velocidade</a:t>
            </a:r>
            <a:r>
              <a:rPr lang="en-US" sz="1800">
                <a:latin typeface="Calibri"/>
              </a:rPr>
              <a:t> e </a:t>
            </a:r>
            <a:r>
              <a:rPr lang="en-US" sz="1800" err="1">
                <a:latin typeface="Calibri"/>
              </a:rPr>
              <a:t>posição</a:t>
            </a:r>
            <a:r>
              <a:rPr lang="en-US" sz="1800">
                <a:latin typeface="Calibri"/>
              </a:rPr>
              <a:t> angular.</a:t>
            </a:r>
          </a:p>
          <a:p>
            <a:pPr marL="285750" indent="-285750" algn="just">
              <a:buChar char="•"/>
            </a:pPr>
            <a:endParaRPr lang="en-US" sz="1800">
              <a:latin typeface="Calibri"/>
            </a:endParaRPr>
          </a:p>
          <a:p>
            <a:pPr marL="285750" indent="-285750" algn="just">
              <a:buChar char="•"/>
            </a:pPr>
            <a:r>
              <a:rPr lang="en-US" sz="1800" b="1" err="1">
                <a:latin typeface="Calibri"/>
              </a:rPr>
              <a:t>Aquisição</a:t>
            </a:r>
            <a:r>
              <a:rPr lang="en-US" sz="1800" b="1">
                <a:latin typeface="Calibri"/>
              </a:rPr>
              <a:t> </a:t>
            </a:r>
            <a:r>
              <a:rPr lang="en-US" sz="1800" b="1" err="1">
                <a:latin typeface="Calibri"/>
              </a:rPr>
              <a:t>complementar</a:t>
            </a:r>
            <a:r>
              <a:rPr lang="en-US" sz="1800" b="1">
                <a:latin typeface="Calibri"/>
              </a:rPr>
              <a:t> </a:t>
            </a:r>
            <a:r>
              <a:rPr lang="en-US" sz="1800" b="1" err="1">
                <a:latin typeface="Calibri"/>
              </a:rPr>
              <a:t>pelo</a:t>
            </a:r>
            <a:r>
              <a:rPr lang="en-US" sz="1800" b="1">
                <a:latin typeface="Calibri"/>
              </a:rPr>
              <a:t> drone</a:t>
            </a:r>
            <a:r>
              <a:rPr lang="en-US" sz="1800">
                <a:latin typeface="Calibri"/>
              </a:rPr>
              <a:t>: </a:t>
            </a:r>
            <a:r>
              <a:rPr lang="en-US" sz="1800" err="1">
                <a:latin typeface="Calibri"/>
              </a:rPr>
              <a:t>Sobrevoo</a:t>
            </a:r>
            <a:r>
              <a:rPr lang="en-US" sz="1800">
                <a:latin typeface="Calibri"/>
              </a:rPr>
              <a:t> dos </a:t>
            </a:r>
            <a:r>
              <a:rPr lang="en-US" sz="1800" err="1">
                <a:latin typeface="Calibri"/>
              </a:rPr>
              <a:t>pivôs</a:t>
            </a:r>
            <a:r>
              <a:rPr lang="en-US" sz="1800">
                <a:latin typeface="Calibri"/>
              </a:rPr>
              <a:t> para </a:t>
            </a:r>
            <a:r>
              <a:rPr lang="en-US" sz="1800" err="1">
                <a:latin typeface="Calibri"/>
              </a:rPr>
              <a:t>ampliar</a:t>
            </a:r>
            <a:r>
              <a:rPr lang="en-US" sz="1800">
                <a:latin typeface="Calibri"/>
              </a:rPr>
              <a:t> a </a:t>
            </a:r>
            <a:r>
              <a:rPr lang="en-US" sz="1800" err="1">
                <a:latin typeface="Calibri"/>
              </a:rPr>
              <a:t>cobertura</a:t>
            </a:r>
            <a:r>
              <a:rPr lang="en-US" sz="1800">
                <a:latin typeface="Calibri"/>
              </a:rPr>
              <a:t>, </a:t>
            </a:r>
            <a:r>
              <a:rPr lang="en-US" sz="1800" err="1">
                <a:latin typeface="Calibri"/>
              </a:rPr>
              <a:t>obter</a:t>
            </a:r>
            <a:r>
              <a:rPr lang="en-US" sz="1800">
                <a:latin typeface="Calibri"/>
              </a:rPr>
              <a:t> dados </a:t>
            </a:r>
            <a:r>
              <a:rPr lang="en-US" sz="1800" err="1">
                <a:latin typeface="Calibri"/>
              </a:rPr>
              <a:t>redundantes</a:t>
            </a:r>
            <a:r>
              <a:rPr lang="en-US" sz="1800">
                <a:latin typeface="Calibri"/>
              </a:rPr>
              <a:t> e </a:t>
            </a:r>
            <a:r>
              <a:rPr lang="en-US" sz="1800" err="1">
                <a:latin typeface="Calibri"/>
              </a:rPr>
              <a:t>refinar</a:t>
            </a:r>
            <a:r>
              <a:rPr lang="en-US" sz="1800">
                <a:latin typeface="Calibri"/>
              </a:rPr>
              <a:t> a </a:t>
            </a:r>
            <a:r>
              <a:rPr lang="en-US" sz="1800" err="1">
                <a:latin typeface="Calibri"/>
              </a:rPr>
              <a:t>detecção</a:t>
            </a:r>
            <a:r>
              <a:rPr lang="en-US" sz="1800">
                <a:latin typeface="Calibri"/>
              </a:rPr>
              <a:t> de </a:t>
            </a:r>
            <a:r>
              <a:rPr lang="en-US" sz="1800" err="1">
                <a:latin typeface="Calibri"/>
              </a:rPr>
              <a:t>estresse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hídrico</a:t>
            </a:r>
            <a:r>
              <a:rPr lang="en-US" sz="1800">
                <a:latin typeface="Calibri"/>
              </a:rPr>
              <a:t>.</a:t>
            </a:r>
          </a:p>
          <a:p>
            <a:pPr marL="285750" indent="-285750" algn="just">
              <a:buChar char="•"/>
            </a:pPr>
            <a:endParaRPr lang="en-US" sz="1800">
              <a:latin typeface="Calibri"/>
            </a:endParaRPr>
          </a:p>
          <a:p>
            <a:pPr marL="285750" indent="-285750" algn="just">
              <a:buChar char="•"/>
            </a:pPr>
            <a:r>
              <a:rPr lang="en-US" sz="1800" b="1" err="1">
                <a:latin typeface="Calibri"/>
              </a:rPr>
              <a:t>Envio</a:t>
            </a:r>
            <a:r>
              <a:rPr lang="en-US" sz="1800" b="1">
                <a:latin typeface="Calibri"/>
              </a:rPr>
              <a:t> e </a:t>
            </a:r>
            <a:r>
              <a:rPr lang="en-US" sz="1800" b="1" err="1">
                <a:latin typeface="Calibri"/>
              </a:rPr>
              <a:t>processamento</a:t>
            </a:r>
            <a:r>
              <a:rPr lang="en-US" sz="1800" b="1">
                <a:latin typeface="Calibri"/>
              </a:rPr>
              <a:t> dos dados</a:t>
            </a:r>
            <a:r>
              <a:rPr lang="en-US" sz="1800">
                <a:latin typeface="Calibri"/>
              </a:rPr>
              <a:t>: Plataforma central integra </a:t>
            </a:r>
            <a:r>
              <a:rPr lang="en-US" sz="1800" err="1">
                <a:latin typeface="Calibri"/>
              </a:rPr>
              <a:t>informações</a:t>
            </a:r>
            <a:r>
              <a:rPr lang="en-US" sz="1800">
                <a:latin typeface="Calibri"/>
              </a:rPr>
              <a:t> dos </a:t>
            </a:r>
            <a:r>
              <a:rPr lang="en-US" sz="1800" err="1">
                <a:latin typeface="Calibri"/>
              </a:rPr>
              <a:t>pivôs</a:t>
            </a:r>
            <a:r>
              <a:rPr lang="en-US" sz="1800">
                <a:latin typeface="Calibri"/>
              </a:rPr>
              <a:t> e do drone, </a:t>
            </a:r>
            <a:r>
              <a:rPr lang="en-US" sz="1800" err="1">
                <a:latin typeface="Calibri"/>
              </a:rPr>
              <a:t>aplicando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análise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inteligente</a:t>
            </a:r>
            <a:r>
              <a:rPr lang="en-US" sz="1800">
                <a:latin typeface="Calibri"/>
              </a:rPr>
              <a:t> para </a:t>
            </a:r>
            <a:r>
              <a:rPr lang="en-US" sz="1800" err="1">
                <a:latin typeface="Calibri"/>
              </a:rPr>
              <a:t>identificar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falhas</a:t>
            </a:r>
            <a:r>
              <a:rPr lang="en-US" sz="1800">
                <a:latin typeface="Calibri"/>
              </a:rPr>
              <a:t> e </a:t>
            </a:r>
            <a:r>
              <a:rPr lang="en-US" sz="1800" err="1">
                <a:latin typeface="Calibri"/>
              </a:rPr>
              <a:t>propor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ajustes</a:t>
            </a:r>
            <a:r>
              <a:rPr lang="en-US" sz="1800">
                <a:latin typeface="Calibri"/>
              </a:rPr>
              <a:t> no </a:t>
            </a:r>
            <a:r>
              <a:rPr lang="en-US" sz="1800" err="1">
                <a:latin typeface="Calibri"/>
              </a:rPr>
              <a:t>sistema</a:t>
            </a:r>
            <a:r>
              <a:rPr lang="en-US" sz="1800">
                <a:latin typeface="Calibri"/>
              </a:rPr>
              <a:t> de </a:t>
            </a:r>
            <a:r>
              <a:rPr lang="en-US" sz="1800" err="1">
                <a:latin typeface="Calibri"/>
              </a:rPr>
              <a:t>irrigação</a:t>
            </a:r>
            <a:r>
              <a:rPr lang="en-US" sz="1800">
                <a:latin typeface="Calibri"/>
              </a:rPr>
              <a:t>.</a:t>
            </a:r>
          </a:p>
          <a:p>
            <a:pPr marL="285750" indent="-285750" algn="just">
              <a:buChar char="•"/>
            </a:pPr>
            <a:endParaRPr lang="en-US" sz="1800">
              <a:latin typeface="Calibri"/>
            </a:endParaRPr>
          </a:p>
          <a:p>
            <a:pPr marL="285750" indent="-285750" algn="just">
              <a:buChar char="•"/>
            </a:pPr>
            <a:r>
              <a:rPr lang="en-US" sz="1800" b="1" err="1">
                <a:latin typeface="Calibri"/>
              </a:rPr>
              <a:t>Módulo</a:t>
            </a:r>
            <a:r>
              <a:rPr lang="en-US" sz="1800" b="1">
                <a:latin typeface="Calibri"/>
              </a:rPr>
              <a:t> de </a:t>
            </a:r>
            <a:r>
              <a:rPr lang="en-US" sz="1800" b="1" err="1">
                <a:latin typeface="Calibri"/>
              </a:rPr>
              <a:t>decisão</a:t>
            </a:r>
            <a:r>
              <a:rPr lang="en-US" sz="1800">
                <a:latin typeface="Calibri"/>
              </a:rPr>
              <a:t>: Avalia o </a:t>
            </a:r>
            <a:r>
              <a:rPr lang="en-US" sz="1800" err="1">
                <a:latin typeface="Calibri"/>
              </a:rPr>
              <a:t>estado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hídrico</a:t>
            </a:r>
            <a:r>
              <a:rPr lang="en-US" sz="1800">
                <a:latin typeface="Calibri"/>
              </a:rPr>
              <a:t>, </a:t>
            </a:r>
            <a:r>
              <a:rPr lang="en-US" sz="1800" err="1">
                <a:latin typeface="Calibri"/>
              </a:rPr>
              <a:t>compara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padrões</a:t>
            </a:r>
            <a:r>
              <a:rPr lang="en-US" sz="1800">
                <a:latin typeface="Calibri"/>
              </a:rPr>
              <a:t> e </a:t>
            </a:r>
            <a:r>
              <a:rPr lang="en-US" sz="1800" err="1">
                <a:latin typeface="Calibri"/>
              </a:rPr>
              <a:t>gera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recomendações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como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ajuste</a:t>
            </a:r>
            <a:r>
              <a:rPr lang="en-US" sz="1800">
                <a:latin typeface="Calibri"/>
              </a:rPr>
              <a:t> de </a:t>
            </a:r>
            <a:r>
              <a:rPr lang="en-US" sz="1800" err="1">
                <a:latin typeface="Calibri"/>
              </a:rPr>
              <a:t>lâmina</a:t>
            </a:r>
            <a:r>
              <a:rPr lang="en-US" sz="1800">
                <a:latin typeface="Calibri"/>
              </a:rPr>
              <a:t> de </a:t>
            </a:r>
            <a:r>
              <a:rPr lang="en-US" sz="1800" err="1">
                <a:latin typeface="Calibri"/>
              </a:rPr>
              <a:t>água</a:t>
            </a:r>
            <a:r>
              <a:rPr lang="en-US" sz="1800">
                <a:latin typeface="Calibri"/>
              </a:rPr>
              <a:t> e </a:t>
            </a:r>
            <a:r>
              <a:rPr lang="en-US" sz="1800" err="1">
                <a:latin typeface="Calibri"/>
              </a:rPr>
              <a:t>velocidade</a:t>
            </a:r>
            <a:r>
              <a:rPr lang="en-US" sz="1800">
                <a:latin typeface="Calibri"/>
              </a:rPr>
              <a:t> de </a:t>
            </a:r>
            <a:r>
              <a:rPr lang="en-US" sz="1800" err="1">
                <a:latin typeface="Calibri"/>
              </a:rPr>
              <a:t>rotação</a:t>
            </a:r>
            <a:r>
              <a:rPr lang="en-US" sz="1800">
                <a:latin typeface="Calibri"/>
              </a:rPr>
              <a:t>.</a:t>
            </a:r>
          </a:p>
          <a:p>
            <a:pPr marL="285750" indent="-285750" algn="just">
              <a:buChar char="•"/>
            </a:pPr>
            <a:endParaRPr lang="en-US" sz="1800">
              <a:latin typeface="Calibri"/>
            </a:endParaRPr>
          </a:p>
          <a:p>
            <a:pPr marL="285750" indent="-285750" algn="just">
              <a:buChar char="•"/>
            </a:pPr>
            <a:r>
              <a:rPr lang="en-US" sz="1800" b="1" err="1">
                <a:latin typeface="Calibri"/>
              </a:rPr>
              <a:t>Retorno</a:t>
            </a:r>
            <a:r>
              <a:rPr lang="en-US" sz="1800" b="1">
                <a:latin typeface="Calibri"/>
              </a:rPr>
              <a:t> das </a:t>
            </a:r>
            <a:r>
              <a:rPr lang="en-US" sz="1800" b="1" err="1">
                <a:latin typeface="Calibri"/>
              </a:rPr>
              <a:t>recomendações</a:t>
            </a:r>
            <a:r>
              <a:rPr lang="en-US" sz="1800">
                <a:latin typeface="Calibri"/>
              </a:rPr>
              <a:t>: Drone atua </a:t>
            </a:r>
            <a:r>
              <a:rPr lang="en-US" sz="1800" err="1">
                <a:latin typeface="Calibri"/>
              </a:rPr>
              <a:t>como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mensageiro</a:t>
            </a:r>
            <a:r>
              <a:rPr lang="en-US" sz="1800">
                <a:latin typeface="Calibri"/>
              </a:rPr>
              <a:t>, </a:t>
            </a:r>
            <a:r>
              <a:rPr lang="en-US" sz="1800" err="1">
                <a:latin typeface="Calibri"/>
              </a:rPr>
              <a:t>distribuindo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os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comandos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otimizados</a:t>
            </a:r>
            <a:r>
              <a:rPr lang="en-US" sz="1800">
                <a:latin typeface="Calibri"/>
              </a:rPr>
              <a:t> a </a:t>
            </a:r>
            <a:r>
              <a:rPr lang="en-US" sz="1800" err="1">
                <a:latin typeface="Calibri"/>
              </a:rPr>
              <a:t>cada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pivô</a:t>
            </a:r>
            <a:r>
              <a:rPr lang="en-US" sz="1800">
                <a:latin typeface="Calibri"/>
              </a:rPr>
              <a:t>, </a:t>
            </a:r>
            <a:r>
              <a:rPr lang="en-US" sz="1800" err="1">
                <a:latin typeface="Calibri"/>
              </a:rPr>
              <a:t>fechando</a:t>
            </a:r>
            <a:r>
              <a:rPr lang="en-US" sz="1800">
                <a:latin typeface="Calibri"/>
              </a:rPr>
              <a:t> o </a:t>
            </a:r>
            <a:r>
              <a:rPr lang="en-US" sz="1800" err="1">
                <a:latin typeface="Calibri"/>
              </a:rPr>
              <a:t>ciclo</a:t>
            </a:r>
            <a:r>
              <a:rPr lang="en-US" sz="1800">
                <a:latin typeface="Calibri"/>
              </a:rPr>
              <a:t> de </a:t>
            </a:r>
            <a:r>
              <a:rPr lang="en-US" sz="1800" err="1">
                <a:latin typeface="Calibri"/>
              </a:rPr>
              <a:t>monitoramento</a:t>
            </a:r>
            <a:r>
              <a:rPr lang="en-US" sz="1800">
                <a:latin typeface="Calibri"/>
              </a:rPr>
              <a:t> e </a:t>
            </a:r>
            <a:r>
              <a:rPr lang="en-US" sz="1800" err="1">
                <a:latin typeface="Calibri"/>
              </a:rPr>
              <a:t>intervenção</a:t>
            </a:r>
            <a:r>
              <a:rPr lang="en-US" sz="1800">
                <a:latin typeface="Calibri"/>
              </a:rPr>
              <a:t>.</a:t>
            </a:r>
          </a:p>
          <a:p>
            <a:pPr marL="285750" indent="-285750" algn="just">
              <a:buChar char="•"/>
            </a:pPr>
            <a:endParaRPr lang="en-US" sz="1800">
              <a:latin typeface="Calibri"/>
            </a:endParaRPr>
          </a:p>
          <a:p>
            <a:pPr marL="285750" indent="-285750" algn="just">
              <a:buChar char="•"/>
            </a:pPr>
            <a:r>
              <a:rPr lang="en-US" sz="1800" b="1">
                <a:latin typeface="Calibri"/>
              </a:rPr>
              <a:t>Ciclo </a:t>
            </a:r>
            <a:r>
              <a:rPr lang="en-US" sz="1800" b="1" err="1">
                <a:latin typeface="Calibri"/>
              </a:rPr>
              <a:t>inteligente</a:t>
            </a:r>
            <a:r>
              <a:rPr lang="en-US" sz="1800" b="1">
                <a:latin typeface="Calibri"/>
              </a:rPr>
              <a:t> </a:t>
            </a:r>
            <a:r>
              <a:rPr lang="en-US" sz="1800" b="1" err="1">
                <a:latin typeface="Calibri"/>
              </a:rPr>
              <a:t>integrado</a:t>
            </a:r>
            <a:r>
              <a:rPr lang="en-US" sz="1800">
                <a:latin typeface="Calibri"/>
              </a:rPr>
              <a:t>: </a:t>
            </a:r>
            <a:r>
              <a:rPr lang="en-US" sz="1800" err="1">
                <a:latin typeface="Calibri"/>
              </a:rPr>
              <a:t>Combinação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contínua</a:t>
            </a:r>
            <a:r>
              <a:rPr lang="en-US" sz="1800">
                <a:latin typeface="Calibri"/>
              </a:rPr>
              <a:t> entre coleta → </a:t>
            </a:r>
            <a:r>
              <a:rPr lang="en-US" sz="1800" err="1">
                <a:latin typeface="Calibri"/>
              </a:rPr>
              <a:t>análise</a:t>
            </a:r>
            <a:r>
              <a:rPr lang="en-US" sz="1800">
                <a:latin typeface="Calibri"/>
              </a:rPr>
              <a:t> → </a:t>
            </a:r>
            <a:r>
              <a:rPr lang="en-US" sz="1800" err="1">
                <a:latin typeface="Calibri"/>
              </a:rPr>
              <a:t>decisão</a:t>
            </a:r>
            <a:r>
              <a:rPr lang="en-US" sz="1800">
                <a:latin typeface="Calibri"/>
              </a:rPr>
              <a:t> → </a:t>
            </a:r>
            <a:r>
              <a:rPr lang="en-US" sz="1800" err="1">
                <a:latin typeface="Calibri"/>
              </a:rPr>
              <a:t>atuação</a:t>
            </a:r>
            <a:r>
              <a:rPr lang="en-US" sz="1800">
                <a:latin typeface="Calibri"/>
              </a:rPr>
              <a:t>, </a:t>
            </a:r>
            <a:r>
              <a:rPr lang="en-US" sz="1800" err="1">
                <a:latin typeface="Calibri"/>
              </a:rPr>
              <a:t>aumentando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eficiência</a:t>
            </a:r>
            <a:r>
              <a:rPr lang="en-US" sz="1800">
                <a:latin typeface="Calibri"/>
              </a:rPr>
              <a:t> </a:t>
            </a:r>
            <a:r>
              <a:rPr lang="en-US" sz="1800" err="1">
                <a:latin typeface="Calibri"/>
              </a:rPr>
              <a:t>hídrica</a:t>
            </a:r>
            <a:r>
              <a:rPr lang="en-US" sz="1800">
                <a:latin typeface="Calibri"/>
              </a:rPr>
              <a:t> e </a:t>
            </a:r>
            <a:r>
              <a:rPr lang="en-US" sz="1800" err="1">
                <a:latin typeface="Calibri"/>
              </a:rPr>
              <a:t>precisão</a:t>
            </a:r>
            <a:r>
              <a:rPr lang="en-US" sz="1800">
                <a:latin typeface="Calibri"/>
              </a:rPr>
              <a:t> no </a:t>
            </a:r>
            <a:r>
              <a:rPr lang="en-US" sz="1800" err="1">
                <a:latin typeface="Calibri"/>
              </a:rPr>
              <a:t>manejo</a:t>
            </a:r>
            <a:r>
              <a:rPr lang="en-US" sz="1800">
                <a:latin typeface="Calibri"/>
              </a:rPr>
              <a:t> da </a:t>
            </a:r>
            <a:r>
              <a:rPr lang="en-US" sz="1800" err="1">
                <a:latin typeface="Calibri"/>
              </a:rPr>
              <a:t>irrigação</a:t>
            </a:r>
            <a:r>
              <a:rPr lang="en-US" sz="1800">
                <a:latin typeface="Calibri"/>
              </a:rPr>
              <a:t>.</a:t>
            </a:r>
          </a:p>
          <a:p>
            <a:endParaRPr lang="en-US" sz="2000">
              <a:latin typeface="Calibri"/>
            </a:endParaRPr>
          </a:p>
          <a:p>
            <a:endParaRPr lang="en-US"/>
          </a:p>
          <a:p>
            <a:endParaRPr lang="en-US"/>
          </a:p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C514D707-30DE-88D1-8763-F3610F473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39A5CAD0-6EB2-FF5D-EF35-841DC95CC8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12214"/>
            <a:ext cx="10495280" cy="64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sz="3600"/>
              <a:t>Metodologia - Drones</a:t>
            </a:r>
            <a:endParaRPr lang="pt-BR"/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8A77E491-3AD3-1DA9-438A-28A47B7DA4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8314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6DBF19-576A-FC54-3600-9B6FD7A2A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1558"/>
            <a:ext cx="10286830" cy="4318832"/>
          </a:xfrm>
        </p:spPr>
        <p:txBody>
          <a:bodyPr>
            <a:noAutofit/>
          </a:bodyPr>
          <a:lstStyle/>
          <a:p>
            <a:pPr algn="just"/>
            <a:r>
              <a:rPr lang="pt-BR" sz="2600">
                <a:solidFill>
                  <a:schemeClr val="tx1"/>
                </a:solidFill>
              </a:rPr>
              <a:t>Drones </a:t>
            </a:r>
            <a:r>
              <a:rPr lang="pt-BR" sz="2600" err="1">
                <a:solidFill>
                  <a:schemeClr val="tx1"/>
                </a:solidFill>
              </a:rPr>
              <a:t>multirrotores</a:t>
            </a:r>
            <a:r>
              <a:rPr lang="pt-BR" sz="2600">
                <a:solidFill>
                  <a:schemeClr val="tx1"/>
                </a:solidFill>
              </a:rPr>
              <a:t> voando baixo e devagar sobre o pivô, cobrindo todo o círculo irrigado em poucos minutos.</a:t>
            </a:r>
            <a:endParaRPr lang="pt-BR">
              <a:solidFill>
                <a:schemeClr val="tx1"/>
              </a:solidFill>
            </a:endParaRPr>
          </a:p>
          <a:p>
            <a:pPr algn="just"/>
            <a:r>
              <a:rPr lang="pt-BR" sz="2600">
                <a:solidFill>
                  <a:schemeClr val="tx1"/>
                </a:solidFill>
              </a:rPr>
              <a:t>Câmera RGB produz “fotos normais” de alta resolução, formando um mapa contínuo da lavoura (</a:t>
            </a:r>
            <a:r>
              <a:rPr lang="pt-BR" sz="2600" err="1">
                <a:solidFill>
                  <a:schemeClr val="tx1"/>
                </a:solidFill>
              </a:rPr>
              <a:t>ortomosaico</a:t>
            </a:r>
            <a:r>
              <a:rPr lang="pt-BR" sz="2600">
                <a:solidFill>
                  <a:schemeClr val="tx1"/>
                </a:solidFill>
              </a:rPr>
              <a:t>).</a:t>
            </a:r>
          </a:p>
          <a:p>
            <a:pPr algn="just"/>
            <a:r>
              <a:rPr lang="pt-BR" sz="2600" dirty="0">
                <a:solidFill>
                  <a:schemeClr val="tx1"/>
                </a:solidFill>
              </a:rPr>
              <a:t>Câmera multiespectral gera índices de vegetação (NDVI, NDRE) que mostram vigor da planta e início de estresse hídrico.</a:t>
            </a:r>
          </a:p>
          <a:p>
            <a:pPr algn="just"/>
            <a:r>
              <a:rPr lang="pt-BR" sz="2600" dirty="0">
                <a:solidFill>
                  <a:schemeClr val="tx1"/>
                </a:solidFill>
              </a:rPr>
              <a:t>Câmera termal mede a temperatura do dossel: plantas mais quentes indicam falta de água ou falha na irrigação.</a:t>
            </a:r>
          </a:p>
          <a:p>
            <a:endParaRPr lang="pt-BR" sz="2400">
              <a:solidFill>
                <a:schemeClr val="tx1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C7A7EE2-3121-972F-C9D4-4078EAC272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470" b="-176"/>
          <a:stretch>
            <a:fillRect/>
          </a:stretch>
        </p:blipFill>
        <p:spPr>
          <a:xfrm>
            <a:off x="8636430" y="4704269"/>
            <a:ext cx="2488030" cy="176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07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CD213A88-2806-491B-3F71-D56FE3B6C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9501C59B-B320-9BAB-BE61-95DD207BB7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33045"/>
            <a:ext cx="10495280" cy="64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sz="3600"/>
              <a:t>Metodologia - Pivôs</a:t>
            </a:r>
            <a:endParaRPr lang="pt-BR"/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C46F18B4-F2D4-48ED-943B-0506906E60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8314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DD5AC4-1C10-36C2-E640-DEF8D75FF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9893"/>
            <a:ext cx="10984695" cy="4685874"/>
          </a:xfrm>
        </p:spPr>
        <p:txBody>
          <a:bodyPr>
            <a:normAutofit/>
          </a:bodyPr>
          <a:lstStyle/>
          <a:p>
            <a:pPr marL="228600" indent="-228600" algn="just">
              <a:buFont typeface=""/>
              <a:buChar char="•"/>
            </a:pPr>
            <a:r>
              <a:rPr lang="pt-BR" sz="2400" dirty="0"/>
              <a:t>Em cada pivô são instalados sensores simples e robustos: posição angular (GNSS), velocidade de avanço, pressão de linha e medidor de vazão.</a:t>
            </a:r>
            <a:endParaRPr lang="pt-BR" dirty="0"/>
          </a:p>
          <a:p>
            <a:pPr marL="228600" indent="-228600" algn="just">
              <a:buFont typeface=""/>
              <a:buChar char="•"/>
            </a:pPr>
            <a:r>
              <a:rPr lang="pt-BR" sz="2400" dirty="0"/>
              <a:t>A central do pivô registra, a cada poucos segundos, “onde o pivô está” e “com quanta água e pressão ele está irrigando” em cada lance.</a:t>
            </a:r>
          </a:p>
          <a:p>
            <a:pPr marL="228600" indent="-228600" algn="just">
              <a:buFont typeface=""/>
              <a:buChar char="•"/>
            </a:pPr>
            <a:r>
              <a:rPr lang="pt-BR" sz="2400" dirty="0"/>
              <a:t>Com posição, velocidade, pressão e vazão, o sistema calcula a lâmina aplicada em cada trecho do círculo, identificando setores que recebem mais ou menos água.</a:t>
            </a:r>
          </a:p>
          <a:p>
            <a:pPr marL="228600" indent="-228600" algn="just">
              <a:buFont typeface=""/>
              <a:buChar char="•"/>
            </a:pPr>
            <a:r>
              <a:rPr lang="pt-BR" sz="2400" dirty="0"/>
              <a:t>Os dados sobem para a nuvem e são cruzados com os mapas do drone, indicando em quais lances é preciso reduzir/aumentar a velocidade ou ajustar a pressão.</a:t>
            </a:r>
          </a:p>
          <a:p>
            <a:pPr marL="228600" indent="-228600" algn="just">
              <a:buFont typeface=""/>
              <a:buChar char="•"/>
            </a:pPr>
            <a:r>
              <a:rPr lang="pt-BR" sz="2400" dirty="0"/>
              <a:t>Na prática, o pivô passa a agir como um atuador inteligente: recebe recomendações do sistema e orienta o operador a corrigir falhas e melhorar a uniformidade da irrigação.</a:t>
            </a:r>
            <a:endParaRPr lang="pt-BR" sz="2400" dirty="0">
              <a:solidFill>
                <a:schemeClr val="tx1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54DFA3F-2D8F-8B4C-C29D-7F72B4E62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297" y="5097892"/>
            <a:ext cx="2397760" cy="152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42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4571184B-0820-CA7F-1594-05FBF5FFF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>
            <a:extLst>
              <a:ext uri="{FF2B5EF4-FFF2-40B4-BE49-F238E27FC236}">
                <a16:creationId xmlns:a16="http://schemas.microsoft.com/office/drawing/2014/main" id="{8BB32CC5-A5BB-44EE-8D45-516494672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4515"/>
            <a:ext cx="10515600" cy="22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pt-BR" sz="3200" dirty="0"/>
              <a:t>Solução Tecnológica - Imagens Estresse Hídrico</a:t>
            </a:r>
            <a:endParaRPr lang="pt-BR" dirty="0"/>
          </a:p>
        </p:txBody>
      </p:sp>
      <p:pic>
        <p:nvPicPr>
          <p:cNvPr id="5" name="Google Shape;91;p13" descr="Logo">
            <a:extLst>
              <a:ext uri="{FF2B5EF4-FFF2-40B4-BE49-F238E27FC236}">
                <a16:creationId xmlns:a16="http://schemas.microsoft.com/office/drawing/2014/main" id="{0A63365A-5E46-4B5B-2CF8-1885109844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432890" y="5859771"/>
            <a:ext cx="2261388" cy="6771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9F9C17-0414-D649-2CF6-4000030C0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6783"/>
            <a:ext cx="10515600" cy="4489883"/>
          </a:xfrm>
        </p:spPr>
        <p:txBody>
          <a:bodyPr>
            <a:normAutofit/>
          </a:bodyPr>
          <a:lstStyle/>
          <a:p>
            <a:endParaRPr lang="pt-BR"/>
          </a:p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4AE790D-C661-8AD7-5E6B-F32730D2B8AB}"/>
              </a:ext>
            </a:extLst>
          </p:cNvPr>
          <p:cNvSpPr txBox="1"/>
          <p:nvPr/>
        </p:nvSpPr>
        <p:spPr>
          <a:xfrm>
            <a:off x="1335974" y="5022273"/>
            <a:ext cx="419594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</a:rPr>
              <a:t>Fig 1 - Mapa de </a:t>
            </a:r>
            <a:r>
              <a:rPr lang="en-US" err="1">
                <a:latin typeface="Calibri"/>
              </a:rPr>
              <a:t>estresse</a:t>
            </a:r>
            <a:r>
              <a:rPr lang="en-US">
                <a:latin typeface="Calibri"/>
              </a:rPr>
              <a:t> </a:t>
            </a:r>
            <a:r>
              <a:rPr lang="en-US" err="1">
                <a:latin typeface="Calibri"/>
              </a:rPr>
              <a:t>hídrico</a:t>
            </a:r>
            <a:r>
              <a:rPr lang="en-US">
                <a:latin typeface="Calibri"/>
              </a:rPr>
              <a:t> (CWSI) do </a:t>
            </a:r>
            <a:r>
              <a:rPr lang="en-US" err="1">
                <a:latin typeface="Calibri"/>
              </a:rPr>
              <a:t>milho</a:t>
            </a:r>
            <a:r>
              <a:rPr lang="en-US">
                <a:latin typeface="Calibri"/>
              </a:rPr>
              <a:t> no </a:t>
            </a:r>
            <a:r>
              <a:rPr lang="en-US" err="1">
                <a:latin typeface="Calibri"/>
              </a:rPr>
              <a:t>estágio</a:t>
            </a:r>
            <a:r>
              <a:rPr lang="en-US">
                <a:latin typeface="Calibri"/>
              </a:rPr>
              <a:t> </a:t>
            </a:r>
            <a:r>
              <a:rPr lang="en-US" err="1">
                <a:latin typeface="Calibri"/>
              </a:rPr>
              <a:t>reprodutivo</a:t>
            </a:r>
            <a:r>
              <a:rPr lang="en-US">
                <a:latin typeface="Calibri"/>
              </a:rPr>
              <a:t> (DOY 231) </a:t>
            </a:r>
            <a:r>
              <a:rPr lang="en-US" err="1">
                <a:latin typeface="Calibri"/>
              </a:rPr>
              <a:t>em</a:t>
            </a:r>
            <a:r>
              <a:rPr lang="en-US">
                <a:latin typeface="Calibri"/>
              </a:rPr>
              <a:t> </a:t>
            </a:r>
            <a:r>
              <a:rPr lang="en-US" err="1">
                <a:latin typeface="Calibri"/>
              </a:rPr>
              <a:t>área</a:t>
            </a:r>
            <a:r>
              <a:rPr lang="en-US">
                <a:latin typeface="Calibri"/>
              </a:rPr>
              <a:t> </a:t>
            </a:r>
            <a:r>
              <a:rPr lang="en-US" err="1">
                <a:latin typeface="Calibri"/>
              </a:rPr>
              <a:t>irrigada</a:t>
            </a:r>
            <a:r>
              <a:rPr lang="en-US">
                <a:latin typeface="Calibri"/>
              </a:rPr>
              <a:t> </a:t>
            </a:r>
            <a:r>
              <a:rPr lang="en-US" err="1">
                <a:latin typeface="Calibri"/>
              </a:rPr>
              <a:t>por</a:t>
            </a:r>
            <a:r>
              <a:rPr lang="en-US">
                <a:latin typeface="Calibri"/>
              </a:rPr>
              <a:t> </a:t>
            </a:r>
            <a:r>
              <a:rPr lang="en-US" err="1">
                <a:latin typeface="Calibri"/>
              </a:rPr>
              <a:t>pivô</a:t>
            </a:r>
            <a:r>
              <a:rPr lang="en-US">
                <a:latin typeface="Calibri"/>
              </a:rPr>
              <a:t> central, </a:t>
            </a:r>
            <a:r>
              <a:rPr lang="en-US" err="1">
                <a:latin typeface="Calibri"/>
              </a:rPr>
              <a:t>destacando</a:t>
            </a:r>
            <a:r>
              <a:rPr lang="en-US">
                <a:latin typeface="Calibri"/>
              </a:rPr>
              <a:t> </a:t>
            </a:r>
            <a:r>
              <a:rPr lang="en-US" err="1">
                <a:latin typeface="Calibri"/>
              </a:rPr>
              <a:t>os</a:t>
            </a:r>
            <a:r>
              <a:rPr lang="en-US">
                <a:latin typeface="Calibri"/>
              </a:rPr>
              <a:t> </a:t>
            </a:r>
            <a:r>
              <a:rPr lang="en-US" err="1">
                <a:latin typeface="Calibri"/>
              </a:rPr>
              <a:t>tratamentos</a:t>
            </a:r>
            <a:r>
              <a:rPr lang="en-US">
                <a:latin typeface="Calibri"/>
              </a:rPr>
              <a:t> TRT1--TRT5.</a:t>
            </a:r>
          </a:p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62E3069-DF9C-2BDB-1966-DB87FA120C28}"/>
              </a:ext>
            </a:extLst>
          </p:cNvPr>
          <p:cNvSpPr txBox="1"/>
          <p:nvPr/>
        </p:nvSpPr>
        <p:spPr>
          <a:xfrm>
            <a:off x="6422571" y="5022273"/>
            <a:ext cx="4730338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</a:rPr>
              <a:t>Fig 2 - Mapa de </a:t>
            </a:r>
            <a:r>
              <a:rPr lang="en-US" err="1">
                <a:latin typeface="Calibri"/>
              </a:rPr>
              <a:t>estresse</a:t>
            </a:r>
            <a:r>
              <a:rPr lang="en-US">
                <a:latin typeface="Calibri"/>
              </a:rPr>
              <a:t> </a:t>
            </a:r>
            <a:r>
              <a:rPr lang="en-US" err="1">
                <a:latin typeface="Calibri"/>
              </a:rPr>
              <a:t>hídrico</a:t>
            </a:r>
            <a:r>
              <a:rPr lang="en-US">
                <a:latin typeface="Calibri"/>
              </a:rPr>
              <a:t> (CWSI) do </a:t>
            </a:r>
            <a:r>
              <a:rPr lang="en-US" err="1">
                <a:latin typeface="Calibri"/>
              </a:rPr>
              <a:t>mesmo</a:t>
            </a:r>
            <a:r>
              <a:rPr lang="en-US">
                <a:latin typeface="Calibri"/>
              </a:rPr>
              <a:t> </a:t>
            </a:r>
            <a:r>
              <a:rPr lang="en-US" err="1">
                <a:latin typeface="Calibri"/>
              </a:rPr>
              <a:t>talhão</a:t>
            </a:r>
            <a:r>
              <a:rPr lang="en-US">
                <a:latin typeface="Calibri"/>
              </a:rPr>
              <a:t> </a:t>
            </a:r>
            <a:r>
              <a:rPr lang="en-US" err="1">
                <a:latin typeface="Calibri"/>
              </a:rPr>
              <a:t>em</a:t>
            </a:r>
            <a:r>
              <a:rPr lang="en-US">
                <a:latin typeface="Calibri"/>
              </a:rPr>
              <a:t> data posterior (DOY 240), </a:t>
            </a:r>
            <a:r>
              <a:rPr lang="en-US" err="1">
                <a:latin typeface="Calibri"/>
              </a:rPr>
              <a:t>evidenciando</a:t>
            </a:r>
            <a:r>
              <a:rPr lang="en-US">
                <a:latin typeface="Calibri"/>
              </a:rPr>
              <a:t> a </a:t>
            </a:r>
            <a:r>
              <a:rPr lang="en-US" err="1">
                <a:latin typeface="Calibri"/>
              </a:rPr>
              <a:t>evolução</a:t>
            </a:r>
            <a:r>
              <a:rPr lang="en-US">
                <a:latin typeface="Calibri"/>
              </a:rPr>
              <a:t> temporal do </a:t>
            </a:r>
            <a:r>
              <a:rPr lang="en-US" err="1">
                <a:latin typeface="Calibri"/>
              </a:rPr>
              <a:t>estresse</a:t>
            </a:r>
            <a:r>
              <a:rPr lang="en-US">
                <a:latin typeface="Calibri"/>
              </a:rPr>
              <a:t> e as zonas de </a:t>
            </a:r>
            <a:r>
              <a:rPr lang="en-US" err="1">
                <a:latin typeface="Calibri"/>
              </a:rPr>
              <a:t>manejo</a:t>
            </a:r>
            <a:r>
              <a:rPr lang="en-US">
                <a:latin typeface="Calibri"/>
              </a:rPr>
              <a:t> </a:t>
            </a:r>
            <a:r>
              <a:rPr lang="en-US" err="1">
                <a:latin typeface="Calibri"/>
              </a:rPr>
              <a:t>associadas</a:t>
            </a:r>
            <a:r>
              <a:rPr lang="en-US">
                <a:latin typeface="Calibri"/>
              </a:rPr>
              <a:t> </a:t>
            </a:r>
            <a:r>
              <a:rPr lang="en-US" err="1">
                <a:latin typeface="Calibri"/>
              </a:rPr>
              <a:t>aos</a:t>
            </a:r>
            <a:r>
              <a:rPr lang="en-US">
                <a:latin typeface="Calibri"/>
              </a:rPr>
              <a:t> </a:t>
            </a:r>
            <a:r>
              <a:rPr lang="en-US" err="1">
                <a:latin typeface="Calibri"/>
              </a:rPr>
              <a:t>tratamentos</a:t>
            </a:r>
            <a:r>
              <a:rPr lang="en-US">
                <a:latin typeface="Calibri"/>
              </a:rPr>
              <a:t> TRT1--TRT5.</a:t>
            </a:r>
          </a:p>
          <a:p>
            <a:pPr algn="ctr"/>
            <a:endParaRPr lang="pt-BR"/>
          </a:p>
        </p:txBody>
      </p:sp>
      <p:pic>
        <p:nvPicPr>
          <p:cNvPr id="2" name="Imagem 1" descr="Uma imagem contendo azul, água, ar, hidrante&#10;&#10;O conteúdo gerado por IA pode estar incorreto.">
            <a:extLst>
              <a:ext uri="{FF2B5EF4-FFF2-40B4-BE49-F238E27FC236}">
                <a16:creationId xmlns:a16="http://schemas.microsoft.com/office/drawing/2014/main" id="{7F5EE696-8A2F-34B3-1E56-3789E9A44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652" y="943069"/>
            <a:ext cx="3946240" cy="4006159"/>
          </a:xfrm>
          <a:prstGeom prst="rect">
            <a:avLst/>
          </a:prstGeom>
        </p:spPr>
      </p:pic>
      <p:pic>
        <p:nvPicPr>
          <p:cNvPr id="3" name="Imagem 2" descr="Uma imagem contendo água, andando de, jovem, onda&#10;&#10;O conteúdo gerado por IA pode estar incorreto.">
            <a:extLst>
              <a:ext uri="{FF2B5EF4-FFF2-40B4-BE49-F238E27FC236}">
                <a16:creationId xmlns:a16="http://schemas.microsoft.com/office/drawing/2014/main" id="{A8CFA2F2-4C4D-CC7E-3763-D815561D6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412" y="943068"/>
            <a:ext cx="3947272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074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9150-D81D-0CBC-200E-B65043F1C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E72904-C611-7C4D-49CD-4AA27DC0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291" y="2492556"/>
            <a:ext cx="6943368" cy="2579827"/>
          </a:xfrm>
        </p:spPr>
        <p:txBody>
          <a:bodyPr/>
          <a:lstStyle/>
          <a:p>
            <a:r>
              <a:rPr lang="pt-BR"/>
              <a:t>Segurança</a:t>
            </a:r>
          </a:p>
          <a:p>
            <a:endParaRPr lang="pt-BR"/>
          </a:p>
          <a:p>
            <a:endParaRPr lang="pt-BR"/>
          </a:p>
        </p:txBody>
      </p:sp>
      <p:pic>
        <p:nvPicPr>
          <p:cNvPr id="4" name="Google Shape;91;p13" descr="Logo">
            <a:extLst>
              <a:ext uri="{FF2B5EF4-FFF2-40B4-BE49-F238E27FC236}">
                <a16:creationId xmlns:a16="http://schemas.microsoft.com/office/drawing/2014/main" id="{59E665FA-833B-04D7-A170-EA503E43CFB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1491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E7D6BF4C-9078-1CE4-8363-85979C861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>
            <a:extLst>
              <a:ext uri="{FF2B5EF4-FFF2-40B4-BE49-F238E27FC236}">
                <a16:creationId xmlns:a16="http://schemas.microsoft.com/office/drawing/2014/main" id="{0FCB9B39-2EF4-C821-0066-C854A8BCE0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4515"/>
            <a:ext cx="10515600" cy="22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pt-BR" sz="3600"/>
              <a:t>Segurança - Desafios 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9B0867-12AF-AF32-A11A-D9FA9FD2D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7925"/>
            <a:ext cx="10515600" cy="4351338"/>
          </a:xfrm>
        </p:spPr>
        <p:txBody>
          <a:bodyPr>
            <a:normAutofit/>
          </a:bodyPr>
          <a:lstStyle/>
          <a:p>
            <a:endParaRPr lang="pt-BR"/>
          </a:p>
          <a:p>
            <a:endParaRPr lang="pt-BR"/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16724293-7B0E-1BF1-6D29-D9234A568C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76EA1F4-70D2-D62D-C309-536402AF2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775" y="5147210"/>
            <a:ext cx="1883849" cy="131370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EF5EDA2-17D5-74DC-E7B8-2199ED780762}"/>
              </a:ext>
            </a:extLst>
          </p:cNvPr>
          <p:cNvSpPr txBox="1"/>
          <p:nvPr/>
        </p:nvSpPr>
        <p:spPr>
          <a:xfrm>
            <a:off x="702624" y="1410195"/>
            <a:ext cx="10776855" cy="37427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Char char="•"/>
            </a:pPr>
            <a:r>
              <a:rPr lang="en-US" sz="2000" b="1" err="1">
                <a:latin typeface="Calibri"/>
              </a:rPr>
              <a:t>Vulnerabilidade</a:t>
            </a:r>
            <a:r>
              <a:rPr lang="en-US" sz="2000" b="1">
                <a:latin typeface="Calibri"/>
              </a:rPr>
              <a:t> da </a:t>
            </a:r>
            <a:r>
              <a:rPr lang="en-US" sz="2000" b="1" err="1">
                <a:latin typeface="Calibri"/>
              </a:rPr>
              <a:t>comunicação</a:t>
            </a:r>
            <a:r>
              <a:rPr lang="en-US" sz="2000" b="1">
                <a:latin typeface="Calibri"/>
              </a:rPr>
              <a:t> IoT </a:t>
            </a:r>
            <a:r>
              <a:rPr lang="en-US" sz="2000" b="1" err="1">
                <a:latin typeface="Calibri"/>
              </a:rPr>
              <a:t>em</a:t>
            </a:r>
            <a:r>
              <a:rPr lang="en-US" sz="2000" b="1">
                <a:latin typeface="Calibri"/>
              </a:rPr>
              <a:t> campo: </a:t>
            </a:r>
            <a:r>
              <a:rPr lang="en-US" sz="2000">
                <a:latin typeface="Calibri"/>
              </a:rPr>
              <a:t>Drones, </a:t>
            </a:r>
            <a:r>
              <a:rPr lang="en-US" sz="2000" err="1">
                <a:latin typeface="Calibri"/>
              </a:rPr>
              <a:t>pivôs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sensores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operam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em</a:t>
            </a:r>
            <a:r>
              <a:rPr lang="en-US" sz="2000">
                <a:latin typeface="Calibri"/>
              </a:rPr>
              <a:t> redes </a:t>
            </a:r>
            <a:r>
              <a:rPr lang="en-US" sz="2000" err="1">
                <a:latin typeface="Calibri"/>
              </a:rPr>
              <a:t>distribuídas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abertas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onde</a:t>
            </a:r>
            <a:r>
              <a:rPr lang="en-US" sz="2000">
                <a:latin typeface="Calibri"/>
              </a:rPr>
              <a:t> dados </a:t>
            </a:r>
            <a:r>
              <a:rPr lang="en-US" sz="2000" err="1">
                <a:latin typeface="Calibri"/>
              </a:rPr>
              <a:t>podem</a:t>
            </a:r>
            <a:r>
              <a:rPr lang="en-US" sz="2000">
                <a:latin typeface="Calibri"/>
              </a:rPr>
              <a:t> ser </a:t>
            </a:r>
            <a:r>
              <a:rPr lang="en-US" sz="2000" err="1">
                <a:latin typeface="Calibri"/>
              </a:rPr>
              <a:t>interceptados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alterados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ou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redirecionados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sem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proteção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adequada</a:t>
            </a:r>
            <a:r>
              <a:rPr lang="en-US" sz="2000">
                <a:latin typeface="Calibri"/>
              </a:rPr>
              <a:t>.</a:t>
            </a:r>
            <a:endParaRPr lang="pt-BR" sz="2000"/>
          </a:p>
          <a:p>
            <a:pPr marL="285750" indent="-285750" algn="just">
              <a:buChar char="•"/>
            </a:pPr>
            <a:endParaRPr lang="en-US" sz="2000">
              <a:latin typeface="Calibri"/>
            </a:endParaRPr>
          </a:p>
          <a:p>
            <a:pPr marL="285750" indent="-285750" algn="just">
              <a:buChar char="•"/>
            </a:pPr>
            <a:r>
              <a:rPr lang="en-US" sz="2000" b="1" err="1">
                <a:latin typeface="Calibri"/>
              </a:rPr>
              <a:t>Dispositivos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heterogêneos</a:t>
            </a:r>
            <a:r>
              <a:rPr lang="en-US" sz="2000" b="1">
                <a:latin typeface="Calibri"/>
              </a:rPr>
              <a:t> e </a:t>
            </a:r>
            <a:r>
              <a:rPr lang="en-US" sz="2000" b="1" err="1">
                <a:latin typeface="Calibri"/>
              </a:rPr>
              <a:t>recursos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limitados</a:t>
            </a:r>
            <a:r>
              <a:rPr lang="en-US" sz="2000" b="1">
                <a:latin typeface="Calibri"/>
              </a:rPr>
              <a:t>: </a:t>
            </a:r>
            <a:r>
              <a:rPr lang="en-US" sz="2000">
                <a:latin typeface="Calibri"/>
              </a:rPr>
              <a:t>O </a:t>
            </a:r>
            <a:r>
              <a:rPr lang="en-US" sz="2000" err="1">
                <a:latin typeface="Calibri"/>
              </a:rPr>
              <a:t>ecossistema</a:t>
            </a:r>
            <a:r>
              <a:rPr lang="en-US" sz="2000">
                <a:latin typeface="Calibri"/>
              </a:rPr>
              <a:t> IoT </a:t>
            </a:r>
            <a:r>
              <a:rPr lang="en-US" sz="2000" err="1">
                <a:latin typeface="Calibri"/>
              </a:rPr>
              <a:t>agrícola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envolve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equipamentos</a:t>
            </a:r>
            <a:r>
              <a:rPr lang="en-US" sz="2000">
                <a:latin typeface="Calibri"/>
              </a:rPr>
              <a:t> com </a:t>
            </a:r>
            <a:r>
              <a:rPr lang="en-US" sz="2000" err="1">
                <a:latin typeface="Calibri"/>
              </a:rPr>
              <a:t>diferentes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capacidades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protocolos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níveis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segurança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dificultando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padronização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aumentando</a:t>
            </a:r>
            <a:r>
              <a:rPr lang="en-US" sz="2000">
                <a:latin typeface="Calibri"/>
              </a:rPr>
              <a:t> a </a:t>
            </a:r>
            <a:r>
              <a:rPr lang="en-US" sz="2000" err="1">
                <a:latin typeface="Calibri"/>
              </a:rPr>
              <a:t>superfície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ataque</a:t>
            </a:r>
            <a:r>
              <a:rPr lang="en-US" sz="2000">
                <a:latin typeface="Calibri"/>
              </a:rPr>
              <a:t>.</a:t>
            </a:r>
            <a:endParaRPr lang="en-US" sz="2000" b="1">
              <a:latin typeface="Calibri"/>
            </a:endParaRPr>
          </a:p>
          <a:p>
            <a:pPr marL="285750" indent="-285750" algn="just">
              <a:buChar char="•"/>
            </a:pPr>
            <a:endParaRPr lang="en-US" sz="2000">
              <a:latin typeface="Calibri"/>
            </a:endParaRPr>
          </a:p>
          <a:p>
            <a:pPr marL="285750" indent="-285750" algn="just">
              <a:buChar char="•"/>
            </a:pPr>
            <a:r>
              <a:rPr lang="en-US" sz="2000" b="1">
                <a:latin typeface="Calibri"/>
              </a:rPr>
              <a:t>Risco de </a:t>
            </a:r>
            <a:r>
              <a:rPr lang="en-US" sz="2000" b="1" err="1">
                <a:latin typeface="Calibri"/>
              </a:rPr>
              <a:t>comandos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maliciosos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ou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execução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incorreta</a:t>
            </a:r>
            <a:r>
              <a:rPr lang="en-US" sz="2000" b="1">
                <a:latin typeface="Calibri"/>
              </a:rPr>
              <a:t>: </a:t>
            </a:r>
            <a:r>
              <a:rPr lang="en-US" sz="2000">
                <a:latin typeface="Calibri"/>
              </a:rPr>
              <a:t>Sem </a:t>
            </a:r>
            <a:r>
              <a:rPr lang="en-US" sz="2000" err="1">
                <a:latin typeface="Calibri"/>
              </a:rPr>
              <a:t>mecanismos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verificação</a:t>
            </a:r>
            <a:r>
              <a:rPr lang="en-US" sz="2000">
                <a:latin typeface="Calibri"/>
              </a:rPr>
              <a:t>, um </a:t>
            </a:r>
            <a:r>
              <a:rPr lang="en-US" sz="2000" err="1">
                <a:latin typeface="Calibri"/>
              </a:rPr>
              <a:t>atacante</a:t>
            </a:r>
            <a:r>
              <a:rPr lang="en-US" sz="2000">
                <a:latin typeface="Calibri"/>
              </a:rPr>
              <a:t> (</a:t>
            </a:r>
            <a:r>
              <a:rPr lang="en-US" sz="2000" err="1">
                <a:latin typeface="Calibri"/>
              </a:rPr>
              <a:t>ou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erro</a:t>
            </a:r>
            <a:r>
              <a:rPr lang="en-US" sz="2000">
                <a:latin typeface="Calibri"/>
              </a:rPr>
              <a:t> do </a:t>
            </a:r>
            <a:r>
              <a:rPr lang="en-US" sz="2000" err="1">
                <a:latin typeface="Calibri"/>
              </a:rPr>
              <a:t>sistema</a:t>
            </a:r>
            <a:r>
              <a:rPr lang="en-US" sz="2000">
                <a:latin typeface="Calibri"/>
              </a:rPr>
              <a:t>) </a:t>
            </a:r>
            <a:r>
              <a:rPr lang="en-US" sz="2000" err="1">
                <a:latin typeface="Calibri"/>
              </a:rPr>
              <a:t>pode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enviar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comandos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falsos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pivô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causando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irrigação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indevida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desperdício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água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ou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até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danos</a:t>
            </a:r>
            <a:r>
              <a:rPr lang="en-US" sz="2000">
                <a:latin typeface="Calibri"/>
              </a:rPr>
              <a:t> à </a:t>
            </a:r>
            <a:r>
              <a:rPr lang="en-US" sz="2000" err="1">
                <a:latin typeface="Calibri"/>
              </a:rPr>
              <a:t>lavoura</a:t>
            </a:r>
            <a:r>
              <a:rPr lang="en-US" sz="2000">
                <a:latin typeface="Calibri"/>
              </a:rPr>
              <a:t>.</a:t>
            </a:r>
            <a:endParaRPr lang="en-US" sz="2000" b="1">
              <a:latin typeface="Calibri"/>
            </a:endParaRP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81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6CD35150-9F62-267E-947C-3CA120824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>
            <a:extLst>
              <a:ext uri="{FF2B5EF4-FFF2-40B4-BE49-F238E27FC236}">
                <a16:creationId xmlns:a16="http://schemas.microsoft.com/office/drawing/2014/main" id="{6F907112-91BA-6FBC-CC00-1CD861CEC0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4515"/>
            <a:ext cx="10515600" cy="22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pt-BR" sz="3600"/>
              <a:t>Segurança - Soluções Implementadas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A2F8E0-F1BC-571B-7343-766049101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7925"/>
            <a:ext cx="10515600" cy="4351338"/>
          </a:xfrm>
        </p:spPr>
        <p:txBody>
          <a:bodyPr>
            <a:normAutofit/>
          </a:bodyPr>
          <a:lstStyle/>
          <a:p>
            <a:endParaRPr lang="pt-BR"/>
          </a:p>
          <a:p>
            <a:endParaRPr lang="pt-BR"/>
          </a:p>
        </p:txBody>
      </p:sp>
      <p:pic>
        <p:nvPicPr>
          <p:cNvPr id="3" name="Google Shape;91;p13" descr="Logo">
            <a:extLst>
              <a:ext uri="{FF2B5EF4-FFF2-40B4-BE49-F238E27FC236}">
                <a16:creationId xmlns:a16="http://schemas.microsoft.com/office/drawing/2014/main" id="{B323B58C-2AFE-60F9-0146-B89AF5EB8F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E04DB20-305E-6063-D1AD-DF297D44A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1477" y="4969081"/>
            <a:ext cx="2141147" cy="149183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9C6E480-DFB3-6285-1D72-FCC44CB5B04F}"/>
              </a:ext>
            </a:extLst>
          </p:cNvPr>
          <p:cNvSpPr txBox="1"/>
          <p:nvPr/>
        </p:nvSpPr>
        <p:spPr>
          <a:xfrm>
            <a:off x="841170" y="1321130"/>
            <a:ext cx="10757064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Char char="•"/>
            </a:pPr>
            <a:r>
              <a:rPr lang="en-US" sz="2000" b="1" err="1">
                <a:latin typeface="Calibri"/>
              </a:rPr>
              <a:t>Comunicação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segura</a:t>
            </a:r>
            <a:r>
              <a:rPr lang="en-US" sz="2000" b="1">
                <a:latin typeface="Calibri"/>
              </a:rPr>
              <a:t> e </a:t>
            </a:r>
            <a:r>
              <a:rPr lang="en-US" sz="2000" b="1" err="1">
                <a:latin typeface="Calibri"/>
              </a:rPr>
              <a:t>autenticação</a:t>
            </a:r>
            <a:r>
              <a:rPr lang="en-US" sz="2000" b="1">
                <a:latin typeface="Calibri"/>
              </a:rPr>
              <a:t> robusta: </a:t>
            </a:r>
            <a:r>
              <a:rPr lang="en-US" sz="2000">
                <a:latin typeface="Calibri"/>
              </a:rPr>
              <a:t>A </a:t>
            </a:r>
            <a:r>
              <a:rPr lang="en-US" sz="2000" err="1">
                <a:latin typeface="Calibri"/>
              </a:rPr>
              <a:t>arquitetura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utiliza</a:t>
            </a:r>
            <a:r>
              <a:rPr lang="en-US" sz="2000">
                <a:latin typeface="Calibri"/>
              </a:rPr>
              <a:t> </a:t>
            </a:r>
            <a:r>
              <a:rPr lang="en-US" sz="2000" b="1">
                <a:latin typeface="Calibri"/>
              </a:rPr>
              <a:t>TLS (Transport Layer Security)</a:t>
            </a:r>
            <a:r>
              <a:rPr lang="en-US" sz="2000">
                <a:latin typeface="Calibri"/>
              </a:rPr>
              <a:t> </a:t>
            </a:r>
            <a:r>
              <a:rPr lang="en-US" sz="2000" err="1">
                <a:latin typeface="Calibri"/>
              </a:rPr>
              <a:t>em</a:t>
            </a:r>
            <a:r>
              <a:rPr lang="en-US" sz="2000">
                <a:latin typeface="Calibri"/>
              </a:rPr>
              <a:t> MQTT/HTTP, </a:t>
            </a:r>
            <a:r>
              <a:rPr lang="en-US" sz="2000" err="1">
                <a:latin typeface="Calibri"/>
              </a:rPr>
              <a:t>garantindo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sigilo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integridade</a:t>
            </a:r>
            <a:r>
              <a:rPr lang="en-US" sz="2000">
                <a:latin typeface="Calibri"/>
              </a:rPr>
              <a:t> das </a:t>
            </a:r>
            <a:r>
              <a:rPr lang="en-US" sz="2000" err="1">
                <a:latin typeface="Calibri"/>
              </a:rPr>
              <a:t>mensagens</a:t>
            </a:r>
            <a:r>
              <a:rPr lang="en-US" sz="2000">
                <a:latin typeface="Calibri"/>
              </a:rPr>
              <a:t>. A </a:t>
            </a:r>
            <a:r>
              <a:rPr lang="en-US" sz="2000" err="1">
                <a:latin typeface="Calibri"/>
              </a:rPr>
              <a:t>autenticação</a:t>
            </a:r>
            <a:r>
              <a:rPr lang="en-US" sz="2000">
                <a:latin typeface="Calibri"/>
              </a:rPr>
              <a:t> é </a:t>
            </a:r>
            <a:r>
              <a:rPr lang="en-US" sz="2000" err="1">
                <a:latin typeface="Calibri"/>
              </a:rPr>
              <a:t>feita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por</a:t>
            </a:r>
            <a:r>
              <a:rPr lang="en-US" sz="2000">
                <a:latin typeface="Calibri"/>
              </a:rPr>
              <a:t> </a:t>
            </a:r>
            <a:r>
              <a:rPr lang="en-US" sz="2000" b="1">
                <a:latin typeface="Calibri"/>
              </a:rPr>
              <a:t>API Keys, </a:t>
            </a:r>
            <a:r>
              <a:rPr lang="en-US" sz="2000" b="1" err="1">
                <a:latin typeface="Calibri"/>
              </a:rPr>
              <a:t>certificados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digitais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ou</a:t>
            </a:r>
            <a:r>
              <a:rPr lang="en-US" sz="2000" b="1">
                <a:latin typeface="Calibri"/>
              </a:rPr>
              <a:t> tokens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evitando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dispositivos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não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autorizados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na</a:t>
            </a:r>
            <a:r>
              <a:rPr lang="en-US" sz="2000">
                <a:latin typeface="Calibri"/>
              </a:rPr>
              <a:t> rede.</a:t>
            </a:r>
            <a:endParaRPr lang="pt-BR" sz="2000">
              <a:latin typeface="Calibri"/>
            </a:endParaRPr>
          </a:p>
          <a:p>
            <a:pPr marL="285750" indent="-285750" algn="just">
              <a:buChar char="•"/>
            </a:pPr>
            <a:endParaRPr lang="en-US" sz="2000">
              <a:latin typeface="Calibri"/>
            </a:endParaRPr>
          </a:p>
          <a:p>
            <a:pPr marL="285750" indent="-285750" algn="just">
              <a:buChar char="•"/>
            </a:pPr>
            <a:r>
              <a:rPr lang="en-US" sz="2000" b="1">
                <a:latin typeface="Calibri"/>
              </a:rPr>
              <a:t>Controle de </a:t>
            </a:r>
            <a:r>
              <a:rPr lang="en-US" sz="2000" b="1" err="1">
                <a:latin typeface="Calibri"/>
              </a:rPr>
              <a:t>acesso</a:t>
            </a:r>
            <a:r>
              <a:rPr lang="en-US" sz="2000" b="1">
                <a:latin typeface="Calibri"/>
              </a:rPr>
              <a:t> e </a:t>
            </a:r>
            <a:r>
              <a:rPr lang="en-US" sz="2000" b="1" err="1">
                <a:latin typeface="Calibri"/>
              </a:rPr>
              <a:t>políticas</a:t>
            </a:r>
            <a:r>
              <a:rPr lang="en-US" sz="2000" b="1">
                <a:latin typeface="Calibri"/>
              </a:rPr>
              <a:t> de </a:t>
            </a:r>
            <a:r>
              <a:rPr lang="en-US" sz="2000" b="1" err="1">
                <a:latin typeface="Calibri"/>
              </a:rPr>
              <a:t>permissão</a:t>
            </a:r>
            <a:r>
              <a:rPr lang="en-US" sz="2000" b="1">
                <a:latin typeface="Calibri"/>
              </a:rPr>
              <a:t>: </a:t>
            </a:r>
            <a:r>
              <a:rPr lang="en-US" sz="2000">
                <a:latin typeface="Calibri"/>
              </a:rPr>
              <a:t>A </a:t>
            </a:r>
            <a:r>
              <a:rPr lang="en-US" sz="2000" err="1">
                <a:latin typeface="Calibri"/>
              </a:rPr>
              <a:t>camada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aplicação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adota</a:t>
            </a:r>
            <a:r>
              <a:rPr lang="en-US" sz="2000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perfis</a:t>
            </a:r>
            <a:r>
              <a:rPr lang="en-US" sz="2000" b="1">
                <a:latin typeface="Calibri"/>
              </a:rPr>
              <a:t> de </a:t>
            </a:r>
            <a:r>
              <a:rPr lang="en-US" sz="2000" b="1" err="1">
                <a:latin typeface="Calibri"/>
              </a:rPr>
              <a:t>usuário</a:t>
            </a:r>
            <a:r>
              <a:rPr lang="en-US" sz="2000" b="1">
                <a:latin typeface="Calibri"/>
              </a:rPr>
              <a:t> com </a:t>
            </a:r>
            <a:r>
              <a:rPr lang="en-US" sz="2000" b="1" err="1">
                <a:latin typeface="Calibri"/>
              </a:rPr>
              <a:t>permissões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diferenciadas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seguindo</a:t>
            </a:r>
            <a:r>
              <a:rPr lang="en-US" sz="2000">
                <a:latin typeface="Calibri"/>
              </a:rPr>
              <a:t> boas </a:t>
            </a:r>
            <a:r>
              <a:rPr lang="en-US" sz="2000" err="1">
                <a:latin typeface="Calibri"/>
              </a:rPr>
              <a:t>práticas</a:t>
            </a:r>
            <a:r>
              <a:rPr lang="en-US" sz="2000">
                <a:latin typeface="Calibri"/>
              </a:rPr>
              <a:t> da </a:t>
            </a:r>
            <a:r>
              <a:rPr lang="en-US" sz="2000" err="1">
                <a:latin typeface="Calibri"/>
              </a:rPr>
              <a:t>literatura</a:t>
            </a:r>
            <a:r>
              <a:rPr lang="en-US" sz="2000">
                <a:latin typeface="Calibri"/>
              </a:rPr>
              <a:t>. </a:t>
            </a:r>
            <a:r>
              <a:rPr lang="en-US" sz="2000" err="1">
                <a:latin typeface="Calibri"/>
              </a:rPr>
              <a:t>Apenas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perfis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autorizados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podem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emitir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comandos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críticos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pivô</a:t>
            </a:r>
            <a:r>
              <a:rPr lang="en-US" sz="2000">
                <a:latin typeface="Calibri"/>
              </a:rPr>
              <a:t>.</a:t>
            </a:r>
            <a:endParaRPr lang="en-US" sz="2000" b="1">
              <a:latin typeface="Calibri"/>
            </a:endParaRPr>
          </a:p>
          <a:p>
            <a:pPr marL="285750" indent="-285750" algn="just">
              <a:buChar char="•"/>
            </a:pPr>
            <a:endParaRPr lang="en-US" sz="2000">
              <a:latin typeface="Calibri"/>
            </a:endParaRPr>
          </a:p>
          <a:p>
            <a:pPr marL="285750" indent="-285750" algn="just">
              <a:buChar char="•"/>
            </a:pPr>
            <a:r>
              <a:rPr lang="en-US" sz="2000" b="1" err="1">
                <a:latin typeface="Calibri"/>
              </a:rPr>
              <a:t>Mecanismos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adicionais</a:t>
            </a:r>
            <a:r>
              <a:rPr lang="en-US" sz="2000" b="1">
                <a:latin typeface="Calibri"/>
              </a:rPr>
              <a:t> de </a:t>
            </a:r>
            <a:r>
              <a:rPr lang="en-US" sz="2000" b="1" err="1">
                <a:latin typeface="Calibri"/>
              </a:rPr>
              <a:t>proteção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operacional</a:t>
            </a:r>
            <a:r>
              <a:rPr lang="en-US" sz="2000" b="1">
                <a:latin typeface="Calibri"/>
              </a:rPr>
              <a:t>: </a:t>
            </a:r>
            <a:r>
              <a:rPr lang="en-US" sz="2000" err="1">
                <a:latin typeface="Calibri"/>
              </a:rPr>
              <a:t>Inclui</a:t>
            </a:r>
            <a:r>
              <a:rPr lang="en-US" sz="2000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assinatura</a:t>
            </a:r>
            <a:r>
              <a:rPr lang="en-US" sz="2000" b="1">
                <a:latin typeface="Calibri"/>
              </a:rPr>
              <a:t>/</a:t>
            </a:r>
            <a:r>
              <a:rPr lang="en-US" sz="2000" b="1" err="1">
                <a:latin typeface="Calibri"/>
              </a:rPr>
              <a:t>verificação</a:t>
            </a:r>
            <a:r>
              <a:rPr lang="en-US" sz="2000" b="1">
                <a:latin typeface="Calibri"/>
              </a:rPr>
              <a:t> de </a:t>
            </a:r>
            <a:r>
              <a:rPr lang="en-US" sz="2000" b="1" err="1">
                <a:latin typeface="Calibri"/>
              </a:rPr>
              <a:t>integridade</a:t>
            </a:r>
            <a:r>
              <a:rPr lang="en-US" sz="2000">
                <a:latin typeface="Calibri"/>
              </a:rPr>
              <a:t>, </a:t>
            </a:r>
            <a:r>
              <a:rPr lang="en-US" sz="2000" b="1">
                <a:latin typeface="Calibri"/>
              </a:rPr>
              <a:t>logs de auditoria</a:t>
            </a:r>
            <a:r>
              <a:rPr lang="en-US" sz="2000">
                <a:latin typeface="Calibri"/>
              </a:rPr>
              <a:t> e </a:t>
            </a:r>
            <a:r>
              <a:rPr lang="en-US" sz="2000" b="1" err="1">
                <a:latin typeface="Calibri"/>
              </a:rPr>
              <a:t>validações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internas</a:t>
            </a:r>
            <a:r>
              <a:rPr lang="en-US" sz="2000" b="1">
                <a:latin typeface="Calibri"/>
              </a:rPr>
              <a:t> no </a:t>
            </a:r>
            <a:r>
              <a:rPr lang="en-US" sz="2000" b="1" err="1">
                <a:latin typeface="Calibri"/>
              </a:rPr>
              <a:t>próprio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pivô</a:t>
            </a:r>
            <a:r>
              <a:rPr lang="en-US" sz="2000">
                <a:latin typeface="Calibri"/>
              </a:rPr>
              <a:t> antes de </a:t>
            </a:r>
            <a:r>
              <a:rPr lang="en-US" sz="2000" err="1">
                <a:latin typeface="Calibri"/>
              </a:rPr>
              <a:t>executar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ações</a:t>
            </a:r>
            <a:r>
              <a:rPr lang="en-US" sz="2000">
                <a:latin typeface="Calibri"/>
              </a:rPr>
              <a:t>. </a:t>
            </a:r>
            <a:r>
              <a:rPr lang="en-US" sz="2000" err="1">
                <a:latin typeface="Calibri"/>
              </a:rPr>
              <a:t>Essas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medidas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evitam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ações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indevidas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erros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operacionais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possibilitam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rastrear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tentativas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suspeitas</a:t>
            </a:r>
            <a:r>
              <a:rPr lang="en-US" sz="2000">
                <a:latin typeface="Calibri"/>
              </a:rPr>
              <a:t>.</a:t>
            </a:r>
            <a:endParaRPr lang="en-US" sz="2000" b="1">
              <a:latin typeface="Calibri"/>
            </a:endParaRP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1297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D8AF5-623E-C3C9-336A-3A325DC89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3F7D4-2DA6-E8BE-5320-4A9B274C5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75" y="2492556"/>
            <a:ext cx="6903784" cy="2579827"/>
          </a:xfrm>
        </p:spPr>
        <p:txBody>
          <a:bodyPr/>
          <a:lstStyle/>
          <a:p>
            <a:r>
              <a:rPr lang="pt-BR"/>
              <a:t>Resultados</a:t>
            </a:r>
          </a:p>
          <a:p>
            <a:endParaRPr lang="pt-BR"/>
          </a:p>
          <a:p>
            <a:endParaRPr lang="pt-BR"/>
          </a:p>
        </p:txBody>
      </p:sp>
      <p:pic>
        <p:nvPicPr>
          <p:cNvPr id="4" name="Google Shape;91;p13" descr="Logo">
            <a:extLst>
              <a:ext uri="{FF2B5EF4-FFF2-40B4-BE49-F238E27FC236}">
                <a16:creationId xmlns:a16="http://schemas.microsoft.com/office/drawing/2014/main" id="{3ABF9940-60E9-D3B2-5341-49E000772E4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3480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FFE29238-E893-52A8-87A6-74698ABE6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>
            <a:extLst>
              <a:ext uri="{FF2B5EF4-FFF2-40B4-BE49-F238E27FC236}">
                <a16:creationId xmlns:a16="http://schemas.microsoft.com/office/drawing/2014/main" id="{1E64E58D-1FE6-D909-9BBF-6E72DEBE0B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4515"/>
            <a:ext cx="10515600" cy="22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pt-BR" sz="3200"/>
              <a:t>Resultados</a:t>
            </a:r>
            <a:endParaRPr lang="pt-BR"/>
          </a:p>
        </p:txBody>
      </p:sp>
      <p:pic>
        <p:nvPicPr>
          <p:cNvPr id="5" name="Google Shape;91;p13" descr="Logo">
            <a:extLst>
              <a:ext uri="{FF2B5EF4-FFF2-40B4-BE49-F238E27FC236}">
                <a16:creationId xmlns:a16="http://schemas.microsoft.com/office/drawing/2014/main" id="{4304A934-1B2C-B7B9-9D24-7E0F23E9B2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20C494-14BB-87FD-AB3D-DC22EAAD5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47198"/>
            <a:ext cx="10515600" cy="4351338"/>
          </a:xfrm>
        </p:spPr>
        <p:txBody>
          <a:bodyPr>
            <a:normAutofit/>
          </a:bodyPr>
          <a:lstStyle/>
          <a:p>
            <a:endParaRPr lang="pt-BR"/>
          </a:p>
          <a:p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1D60B22-C4FA-0F5F-420A-C6E644E09FA0}"/>
              </a:ext>
            </a:extLst>
          </p:cNvPr>
          <p:cNvSpPr txBox="1"/>
          <p:nvPr/>
        </p:nvSpPr>
        <p:spPr>
          <a:xfrm>
            <a:off x="841169" y="964870"/>
            <a:ext cx="10509662" cy="49244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algn="just">
              <a:buFont typeface=""/>
              <a:buChar char="•"/>
            </a:pPr>
            <a:r>
              <a:rPr lang="en-US" sz="2000" b="1" err="1">
                <a:latin typeface="Calibri"/>
              </a:rPr>
              <a:t>Integração</a:t>
            </a:r>
            <a:r>
              <a:rPr lang="en-US" sz="2000" b="1">
                <a:latin typeface="Calibri"/>
              </a:rPr>
              <a:t> completa do </a:t>
            </a:r>
            <a:r>
              <a:rPr lang="en-US" sz="2000" b="1" err="1">
                <a:latin typeface="Calibri"/>
              </a:rPr>
              <a:t>ecossistema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agrícola</a:t>
            </a:r>
            <a:r>
              <a:rPr lang="en-US" sz="2000" b="1">
                <a:latin typeface="Calibri"/>
              </a:rPr>
              <a:t>: </a:t>
            </a:r>
            <a:r>
              <a:rPr lang="en-US" sz="2000">
                <a:latin typeface="Calibri"/>
              </a:rPr>
              <a:t>A </a:t>
            </a:r>
            <a:r>
              <a:rPr lang="en-US" sz="2000" err="1">
                <a:latin typeface="Calibri"/>
              </a:rPr>
              <a:t>arquitetura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proposta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conecta</a:t>
            </a:r>
            <a:r>
              <a:rPr lang="en-US" sz="2000">
                <a:latin typeface="Calibri"/>
              </a:rPr>
              <a:t> drones, </a:t>
            </a:r>
            <a:r>
              <a:rPr lang="en-US" sz="2000" err="1">
                <a:latin typeface="Calibri"/>
              </a:rPr>
              <a:t>pivôs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centrais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plataforma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nuvem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permitindo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fluxo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contínuo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aquisição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análise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atuação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quase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em</a:t>
            </a:r>
            <a:r>
              <a:rPr lang="en-US" sz="2000">
                <a:latin typeface="Calibri"/>
              </a:rPr>
              <a:t> tempo real.</a:t>
            </a:r>
            <a:endParaRPr lang="pt-BR"/>
          </a:p>
          <a:p>
            <a:pPr marL="228600" indent="-228600" algn="just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2000" b="1" err="1">
                <a:latin typeface="Calibri"/>
              </a:rPr>
              <a:t>Diagnóstico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preciso</a:t>
            </a:r>
            <a:r>
              <a:rPr lang="en-US" sz="2000" b="1">
                <a:latin typeface="Calibri"/>
              </a:rPr>
              <a:t> do </a:t>
            </a:r>
            <a:r>
              <a:rPr lang="en-US" sz="2000" b="1" err="1">
                <a:latin typeface="Calibri"/>
              </a:rPr>
              <a:t>estresse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hídrico</a:t>
            </a:r>
            <a:r>
              <a:rPr lang="en-US" sz="2000" b="1">
                <a:latin typeface="Calibri"/>
              </a:rPr>
              <a:t>: </a:t>
            </a:r>
            <a:r>
              <a:rPr lang="en-US" sz="2000">
                <a:latin typeface="Calibri"/>
              </a:rPr>
              <a:t>A </a:t>
            </a:r>
            <a:r>
              <a:rPr lang="en-US" sz="2000" err="1">
                <a:latin typeface="Calibri"/>
              </a:rPr>
              <a:t>fusão</a:t>
            </a:r>
            <a:r>
              <a:rPr lang="en-US" sz="2000">
                <a:latin typeface="Calibri"/>
              </a:rPr>
              <a:t> de imagens RGB, </a:t>
            </a:r>
            <a:r>
              <a:rPr lang="en-US" sz="2000" err="1">
                <a:latin typeface="Calibri"/>
              </a:rPr>
              <a:t>multiespectrais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termais</a:t>
            </a:r>
            <a:r>
              <a:rPr lang="en-US" sz="2000">
                <a:latin typeface="Calibri"/>
              </a:rPr>
              <a:t> e dados </a:t>
            </a:r>
            <a:r>
              <a:rPr lang="en-US" sz="2000" err="1">
                <a:latin typeface="Calibri"/>
              </a:rPr>
              <a:t>operacionais</a:t>
            </a:r>
            <a:r>
              <a:rPr lang="en-US" sz="2000">
                <a:latin typeface="Calibri"/>
              </a:rPr>
              <a:t> dos </a:t>
            </a:r>
            <a:r>
              <a:rPr lang="en-US" sz="2000" err="1">
                <a:latin typeface="Calibri"/>
              </a:rPr>
              <a:t>pivôs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possibilita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estimar</a:t>
            </a:r>
            <a:r>
              <a:rPr lang="en-US" sz="2000">
                <a:latin typeface="Calibri"/>
              </a:rPr>
              <a:t> a </a:t>
            </a:r>
            <a:r>
              <a:rPr lang="en-US" sz="2000" err="1">
                <a:latin typeface="Calibri"/>
              </a:rPr>
              <a:t>lâmina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aplicada</a:t>
            </a:r>
            <a:r>
              <a:rPr lang="en-US" sz="2000">
                <a:latin typeface="Calibri"/>
              </a:rPr>
              <a:t> e o </a:t>
            </a:r>
            <a:r>
              <a:rPr lang="en-US" sz="2000" err="1">
                <a:latin typeface="Calibri"/>
              </a:rPr>
              <a:t>estado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hídrico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em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cada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setor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irrigado</a:t>
            </a:r>
            <a:r>
              <a:rPr lang="en-US" sz="2000">
                <a:latin typeface="Calibri"/>
              </a:rPr>
              <a:t>.</a:t>
            </a:r>
          </a:p>
          <a:p>
            <a:pPr marL="228600" indent="-228600" algn="just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2000" b="1" err="1">
                <a:latin typeface="Calibri"/>
              </a:rPr>
              <a:t>Aprimoramento</a:t>
            </a:r>
            <a:r>
              <a:rPr lang="en-US" sz="2000" b="1">
                <a:latin typeface="Calibri"/>
              </a:rPr>
              <a:t> da </a:t>
            </a:r>
            <a:r>
              <a:rPr lang="en-US" sz="2000" b="1" err="1">
                <a:latin typeface="Calibri"/>
              </a:rPr>
              <a:t>uniformidade</a:t>
            </a:r>
            <a:r>
              <a:rPr lang="en-US" sz="2000" b="1">
                <a:latin typeface="Calibri"/>
              </a:rPr>
              <a:t> e </a:t>
            </a:r>
            <a:r>
              <a:rPr lang="en-US" sz="2000" b="1" err="1">
                <a:latin typeface="Calibri"/>
              </a:rPr>
              <a:t>redução</a:t>
            </a:r>
            <a:r>
              <a:rPr lang="en-US" sz="2000" b="1">
                <a:latin typeface="Calibri"/>
              </a:rPr>
              <a:t> de </a:t>
            </a:r>
            <a:r>
              <a:rPr lang="en-US" sz="2000" b="1" err="1">
                <a:latin typeface="Calibri"/>
              </a:rPr>
              <a:t>desperdícios</a:t>
            </a:r>
            <a:r>
              <a:rPr lang="en-US" sz="2000" b="1">
                <a:latin typeface="Calibri"/>
              </a:rPr>
              <a:t>: </a:t>
            </a:r>
            <a:r>
              <a:rPr lang="en-US" sz="2000">
                <a:latin typeface="Calibri"/>
              </a:rPr>
              <a:t>A </a:t>
            </a:r>
            <a:r>
              <a:rPr lang="en-US" sz="2000" err="1">
                <a:latin typeface="Calibri"/>
              </a:rPr>
              <a:t>solução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identifica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setores</a:t>
            </a:r>
            <a:r>
              <a:rPr lang="en-US" sz="2000">
                <a:latin typeface="Calibri"/>
              </a:rPr>
              <a:t> sub/</a:t>
            </a:r>
            <a:r>
              <a:rPr lang="en-US" sz="2000" err="1">
                <a:latin typeface="Calibri"/>
              </a:rPr>
              <a:t>superirrigados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orienta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ajustes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operacionais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favorecendo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maior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uniformidade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economia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água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energia</a:t>
            </a:r>
            <a:r>
              <a:rPr lang="en-US" sz="2000">
                <a:latin typeface="Calibri"/>
              </a:rPr>
              <a:t>.</a:t>
            </a:r>
          </a:p>
          <a:p>
            <a:pPr marL="228600" indent="-228600" algn="just">
              <a:buFont typeface=""/>
              <a:buChar char="•"/>
            </a:pPr>
            <a:endParaRPr lang="en-US" sz="2000">
              <a:latin typeface="Calibri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2000" b="1" err="1">
                <a:latin typeface="Calibri"/>
              </a:rPr>
              <a:t>Solução</a:t>
            </a:r>
            <a:r>
              <a:rPr lang="en-US" sz="2000" b="1">
                <a:latin typeface="Calibri"/>
              </a:rPr>
              <a:t> </a:t>
            </a:r>
            <a:r>
              <a:rPr lang="en-US" sz="2000" b="1" err="1">
                <a:latin typeface="Calibri"/>
              </a:rPr>
              <a:t>tecnológica</a:t>
            </a:r>
            <a:r>
              <a:rPr lang="en-US" sz="2000" b="1">
                <a:latin typeface="Calibri"/>
              </a:rPr>
              <a:t> robusta e </a:t>
            </a:r>
            <a:r>
              <a:rPr lang="en-US" sz="2000" b="1" err="1">
                <a:latin typeface="Calibri"/>
              </a:rPr>
              <a:t>segura</a:t>
            </a:r>
            <a:r>
              <a:rPr lang="en-US" sz="2000" b="1">
                <a:latin typeface="Calibri"/>
              </a:rPr>
              <a:t>: </a:t>
            </a:r>
            <a:r>
              <a:rPr lang="en-US" sz="2000">
                <a:latin typeface="Calibri"/>
              </a:rPr>
              <a:t>A </a:t>
            </a:r>
            <a:r>
              <a:rPr lang="en-US" sz="2000" err="1">
                <a:latin typeface="Calibri"/>
              </a:rPr>
              <a:t>integração</a:t>
            </a:r>
            <a:r>
              <a:rPr lang="en-US" sz="2000">
                <a:latin typeface="Calibri"/>
              </a:rPr>
              <a:t> de IoT, </a:t>
            </a:r>
            <a:r>
              <a:rPr lang="en-US" sz="2000" err="1">
                <a:latin typeface="Calibri"/>
              </a:rPr>
              <a:t>telemetria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inteligente</a:t>
            </a:r>
            <a:r>
              <a:rPr lang="en-US" sz="2000">
                <a:latin typeface="Calibri"/>
              </a:rPr>
              <a:t> e </a:t>
            </a:r>
            <a:r>
              <a:rPr lang="en-US" sz="2000" err="1">
                <a:latin typeface="Calibri"/>
              </a:rPr>
              <a:t>mecanismos</a:t>
            </a:r>
            <a:r>
              <a:rPr lang="en-US" sz="2000">
                <a:latin typeface="Calibri"/>
              </a:rPr>
              <a:t> de </a:t>
            </a:r>
            <a:r>
              <a:rPr lang="en-US" sz="2000" err="1">
                <a:latin typeface="Calibri"/>
              </a:rPr>
              <a:t>segurança</a:t>
            </a:r>
            <a:r>
              <a:rPr lang="en-US" sz="2000">
                <a:latin typeface="Calibri"/>
              </a:rPr>
              <a:t> (</a:t>
            </a:r>
            <a:r>
              <a:rPr lang="en-US" sz="2000" err="1">
                <a:latin typeface="Calibri"/>
              </a:rPr>
              <a:t>criptografia</a:t>
            </a:r>
            <a:r>
              <a:rPr lang="en-US" sz="2000">
                <a:latin typeface="Calibri"/>
              </a:rPr>
              <a:t>, </a:t>
            </a:r>
            <a:r>
              <a:rPr lang="en-US" sz="2000" err="1">
                <a:latin typeface="Calibri"/>
              </a:rPr>
              <a:t>autenticação</a:t>
            </a:r>
            <a:r>
              <a:rPr lang="en-US" sz="2000">
                <a:latin typeface="Calibri"/>
              </a:rPr>
              <a:t> e auditoria) </a:t>
            </a:r>
            <a:r>
              <a:rPr lang="en-US" sz="2000" err="1">
                <a:latin typeface="Calibri"/>
              </a:rPr>
              <a:t>demonstra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que</a:t>
            </a:r>
            <a:r>
              <a:rPr lang="en-US" sz="2000">
                <a:latin typeface="Calibri"/>
              </a:rPr>
              <a:t> a </a:t>
            </a:r>
            <a:r>
              <a:rPr lang="en-US" sz="2000" err="1">
                <a:latin typeface="Calibri"/>
              </a:rPr>
              <a:t>arquitetura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pode</a:t>
            </a:r>
            <a:r>
              <a:rPr lang="en-US" sz="2000">
                <a:latin typeface="Calibri"/>
              </a:rPr>
              <a:t> </a:t>
            </a:r>
            <a:r>
              <a:rPr lang="en-US" sz="2000" err="1">
                <a:latin typeface="Calibri"/>
              </a:rPr>
              <a:t>evoluir</a:t>
            </a:r>
            <a:r>
              <a:rPr lang="en-US" sz="2000">
                <a:latin typeface="Calibri"/>
              </a:rPr>
              <a:t> para </a:t>
            </a:r>
            <a:r>
              <a:rPr lang="en-US" sz="2000" err="1">
                <a:latin typeface="Calibri"/>
              </a:rPr>
              <a:t>aplicações</a:t>
            </a:r>
            <a:r>
              <a:rPr lang="en-US" sz="2000">
                <a:latin typeface="Calibri"/>
              </a:rPr>
              <a:t> reais e </a:t>
            </a:r>
            <a:r>
              <a:rPr lang="en-US" sz="2000" err="1">
                <a:latin typeface="Calibri"/>
              </a:rPr>
              <a:t>escaláveis</a:t>
            </a:r>
            <a:r>
              <a:rPr lang="en-US" sz="2000">
                <a:latin typeface="Calibri"/>
              </a:rPr>
              <a:t>.</a:t>
            </a: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3288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A8020-52CC-62A7-44AC-4EB80620D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08BC2-A4A1-2BA9-E2CB-1977BDCF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077" y="2610485"/>
            <a:ext cx="6943368" cy="2579827"/>
          </a:xfrm>
        </p:spPr>
        <p:txBody>
          <a:bodyPr/>
          <a:lstStyle/>
          <a:p>
            <a:r>
              <a:rPr lang="pt-BR"/>
              <a:t>Trabalhos Futuros</a:t>
            </a:r>
          </a:p>
          <a:p>
            <a:endParaRPr lang="pt-BR"/>
          </a:p>
          <a:p>
            <a:endParaRPr lang="pt-BR"/>
          </a:p>
        </p:txBody>
      </p:sp>
      <p:pic>
        <p:nvPicPr>
          <p:cNvPr id="4" name="Google Shape;91;p13" descr="Logo">
            <a:extLst>
              <a:ext uri="{FF2B5EF4-FFF2-40B4-BE49-F238E27FC236}">
                <a16:creationId xmlns:a16="http://schemas.microsoft.com/office/drawing/2014/main" id="{C07BD1D8-DEB8-8294-7A8B-B925D048EA3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1515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F4A827E0-8A43-DF4F-0D05-C64E9B62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>
            <a:extLst>
              <a:ext uri="{FF2B5EF4-FFF2-40B4-BE49-F238E27FC236}">
                <a16:creationId xmlns:a16="http://schemas.microsoft.com/office/drawing/2014/main" id="{2729A5AC-0FC5-044E-425D-2143DF1C3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4515"/>
            <a:ext cx="10515600" cy="22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pt-BR" sz="3200"/>
              <a:t>Trabalhos Futuros</a:t>
            </a:r>
          </a:p>
        </p:txBody>
      </p:sp>
      <p:pic>
        <p:nvPicPr>
          <p:cNvPr id="5" name="Google Shape;91;p13" descr="Logo">
            <a:extLst>
              <a:ext uri="{FF2B5EF4-FFF2-40B4-BE49-F238E27FC236}">
                <a16:creationId xmlns:a16="http://schemas.microsoft.com/office/drawing/2014/main" id="{724E45A4-634D-B825-1CA9-A232673F6A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8759" b="28871"/>
          <a:stretch/>
        </p:blipFill>
        <p:spPr>
          <a:xfrm>
            <a:off x="393306" y="5780602"/>
            <a:ext cx="2261388" cy="67710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DD6BF0F-B8BA-87CE-B846-F117B3482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7925"/>
            <a:ext cx="10515600" cy="4351338"/>
          </a:xfrm>
        </p:spPr>
        <p:txBody>
          <a:bodyPr>
            <a:normAutofit fontScale="92500"/>
          </a:bodyPr>
          <a:lstStyle/>
          <a:p>
            <a:pPr algn="just"/>
            <a:r>
              <a:rPr lang="pt-BR"/>
              <a:t>Implantar protótipos em áreas comerciais com múltiplos pivôs, diferentes culturas e condições de relevo, avaliando ganhos reais. </a:t>
            </a:r>
          </a:p>
          <a:p>
            <a:pPr algn="just"/>
            <a:r>
              <a:rPr lang="pt-BR"/>
              <a:t>Evoluir módulos de análise com aprendizado de máquina para prever demanda hídrica e automatizar recomendações de lâmina.</a:t>
            </a:r>
          </a:p>
          <a:p>
            <a:pPr algn="just"/>
            <a:r>
              <a:rPr lang="pt-BR"/>
              <a:t>Explorar arquiteturas de comunicação híbridas (</a:t>
            </a:r>
            <a:r>
              <a:rPr lang="pt-BR" err="1"/>
              <a:t>LoRa</a:t>
            </a:r>
            <a:r>
              <a:rPr lang="pt-BR"/>
              <a:t>, NB-IoT, LTE-M) e topologias resilientes com drones como nós móveis.</a:t>
            </a:r>
          </a:p>
          <a:p>
            <a:pPr algn="just"/>
            <a:r>
              <a:rPr lang="pt-BR"/>
              <a:t>Investigar mecanismos avançados de segurança: detecção de intrusão, verificação distribuída de comandos e criptografia leve.</a:t>
            </a:r>
          </a:p>
          <a:p>
            <a:pPr algn="just"/>
            <a:r>
              <a:rPr lang="pt-BR"/>
              <a:t>Expandir a abordagem além do estresse hídrico, incorporando estado nutricional, pragas/doenças e variáveis hidrológicas de bacia.</a:t>
            </a:r>
          </a:p>
          <a:p>
            <a:endParaRPr lang="pt-BR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103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pt-BR" sz="6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Perguntas?</a:t>
            </a:r>
            <a:endParaRPr sz="6600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7D1FAACC-CE06-A6A0-FA2A-BF7A5C6D7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>
            <a:extLst>
              <a:ext uri="{FF2B5EF4-FFF2-40B4-BE49-F238E27FC236}">
                <a16:creationId xmlns:a16="http://schemas.microsoft.com/office/drawing/2014/main" id="{1FE89A19-A8A7-8E24-6758-FA253BF24A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425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3600"/>
              <a:t>Referências</a:t>
            </a:r>
          </a:p>
        </p:txBody>
      </p:sp>
      <p:sp>
        <p:nvSpPr>
          <p:cNvPr id="242" name="Google Shape;242;p34">
            <a:extLst>
              <a:ext uri="{FF2B5EF4-FFF2-40B4-BE49-F238E27FC236}">
                <a16:creationId xmlns:a16="http://schemas.microsoft.com/office/drawing/2014/main" id="{5ADA9194-1D01-0875-A95C-23576A8290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3560" y="575174"/>
            <a:ext cx="10820400" cy="6282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14300" indent="0">
              <a:buNone/>
            </a:pPr>
            <a:endParaRPr lang="pt-BR" sz="2400" b="1"/>
          </a:p>
          <a:p>
            <a:r>
              <a:rPr lang="pt-BR" sz="2400"/>
              <a:t>[1] Elisio Contini e Adalberto Aragão. </a:t>
            </a:r>
            <a:r>
              <a:rPr lang="pt-BR" sz="2400" i="1"/>
              <a:t>O Agro Brasileiro alimenta 800 milhões de pessoas</a:t>
            </a:r>
            <a:r>
              <a:rPr lang="pt-BR" sz="2400"/>
              <a:t>.</a:t>
            </a:r>
            <a:br>
              <a:rPr lang="pt-BR" sz="2400"/>
            </a:br>
            <a:r>
              <a:rPr lang="pt-BR" sz="2400"/>
              <a:t> URL: </a:t>
            </a:r>
            <a:r>
              <a:rPr lang="pt-BR" sz="2400" b="1">
                <a:hlinkClick r:id="rId3"/>
              </a:rPr>
              <a:t>https://www.gov.br/pt-br/noticias/agricultura-e-pecuaria/2021/03/participacao-brasileira-saltou-de-us-20-6-bilhoes-para-us-100-bilhoes/populacao-alimentada-pelo-brasil.pdf</a:t>
            </a:r>
            <a:r>
              <a:rPr lang="pt-BR" sz="2400"/>
              <a:t> (acesso em 30/06/2024).</a:t>
            </a:r>
            <a:endParaRPr lang="pt-BR" sz="2400" b="1"/>
          </a:p>
          <a:p>
            <a:pPr marL="114300" indent="0">
              <a:buNone/>
            </a:pPr>
            <a:endParaRPr lang="pt-BR" sz="2400" b="1"/>
          </a:p>
          <a:p>
            <a:r>
              <a:rPr lang="pt-BR" sz="2400"/>
              <a:t>[2] </a:t>
            </a:r>
            <a:r>
              <a:rPr lang="pt-BR" sz="2400" err="1"/>
              <a:t>Junfeng</a:t>
            </a:r>
            <a:r>
              <a:rPr lang="pt-BR" sz="2400"/>
              <a:t> Gao, </a:t>
            </a:r>
            <a:r>
              <a:rPr lang="pt-BR" sz="2400" err="1"/>
              <a:t>Xin</a:t>
            </a:r>
            <a:r>
              <a:rPr lang="pt-BR" sz="2400"/>
              <a:t> Zhang, </a:t>
            </a:r>
            <a:r>
              <a:rPr lang="pt-BR" sz="2400" err="1"/>
              <a:t>Dongping</a:t>
            </a:r>
            <a:r>
              <a:rPr lang="pt-BR" sz="2400"/>
              <a:t> Wang e Xi Yang. “</a:t>
            </a:r>
            <a:r>
              <a:rPr lang="pt-BR" sz="2400" err="1"/>
              <a:t>Towards</a:t>
            </a:r>
            <a:r>
              <a:rPr lang="pt-BR" sz="2400"/>
              <a:t> </a:t>
            </a:r>
            <a:r>
              <a:rPr lang="pt-BR" sz="2400" err="1"/>
              <a:t>smart</a:t>
            </a:r>
            <a:r>
              <a:rPr lang="pt-BR" sz="2400"/>
              <a:t> </a:t>
            </a:r>
            <a:r>
              <a:rPr lang="pt-BR" sz="2400" err="1"/>
              <a:t>agriculture</a:t>
            </a:r>
            <a:r>
              <a:rPr lang="pt-BR" sz="2400"/>
              <a:t> </a:t>
            </a:r>
            <a:r>
              <a:rPr lang="pt-BR" sz="2400" err="1"/>
              <a:t>with</a:t>
            </a:r>
            <a:r>
              <a:rPr lang="pt-BR" sz="2400"/>
              <a:t> internet </a:t>
            </a:r>
            <a:r>
              <a:rPr lang="pt-BR" sz="2400" err="1"/>
              <a:t>of</a:t>
            </a:r>
            <a:r>
              <a:rPr lang="pt-BR" sz="2400"/>
              <a:t> </a:t>
            </a:r>
            <a:r>
              <a:rPr lang="pt-BR" sz="2400" err="1"/>
              <a:t>things</a:t>
            </a:r>
            <a:r>
              <a:rPr lang="pt-BR" sz="2400"/>
              <a:t> </a:t>
            </a:r>
            <a:r>
              <a:rPr lang="pt-BR" sz="2400" err="1"/>
              <a:t>and</a:t>
            </a:r>
            <a:r>
              <a:rPr lang="pt-BR" sz="2400"/>
              <a:t> artificial </a:t>
            </a:r>
            <a:r>
              <a:rPr lang="pt-BR" sz="2400" err="1"/>
              <a:t>intelligence</a:t>
            </a:r>
            <a:r>
              <a:rPr lang="pt-BR" sz="2400"/>
              <a:t>”. </a:t>
            </a:r>
            <a:r>
              <a:rPr lang="pt-BR" sz="2400" i="1"/>
              <a:t>Em:</a:t>
            </a:r>
            <a:r>
              <a:rPr lang="pt-BR" sz="2400"/>
              <a:t> </a:t>
            </a:r>
            <a:r>
              <a:rPr lang="pt-BR" sz="2400" b="1" err="1"/>
              <a:t>Biosystems</a:t>
            </a:r>
            <a:r>
              <a:rPr lang="pt-BR" sz="2400" b="1"/>
              <a:t> </a:t>
            </a:r>
            <a:r>
              <a:rPr lang="pt-BR" sz="2400" b="1" err="1"/>
              <a:t>Engineering</a:t>
            </a:r>
            <a:r>
              <a:rPr lang="pt-BR" sz="2400"/>
              <a:t> 190 (2020), pp. 156–168. DOI: </a:t>
            </a:r>
            <a:r>
              <a:rPr lang="pt-BR" sz="2400" b="1"/>
              <a:t>10.1016/j.biosystemseng.2019.12.004</a:t>
            </a:r>
            <a:r>
              <a:rPr lang="pt-BR" sz="2400"/>
              <a:t>.</a:t>
            </a:r>
          </a:p>
          <a:p>
            <a:pPr marL="114300" indent="0">
              <a:buNone/>
            </a:pPr>
            <a:endParaRPr lang="en-US" sz="2400"/>
          </a:p>
          <a:p>
            <a:r>
              <a:rPr lang="pt-BR" sz="2400"/>
              <a:t>[3] Dong-</a:t>
            </a:r>
            <a:r>
              <a:rPr lang="pt-BR" sz="2400" err="1"/>
              <a:t>yu</a:t>
            </a:r>
            <a:r>
              <a:rPr lang="pt-BR" sz="2400"/>
              <a:t> Cai, Hai-</a:t>
            </a:r>
            <a:r>
              <a:rPr lang="pt-BR" sz="2400" err="1"/>
              <a:t>jun</a:t>
            </a:r>
            <a:r>
              <a:rPr lang="pt-BR" sz="2400"/>
              <a:t> Yan e </a:t>
            </a:r>
            <a:r>
              <a:rPr lang="pt-BR" sz="2400" err="1"/>
              <a:t>Lian-hao</a:t>
            </a:r>
            <a:r>
              <a:rPr lang="pt-BR" sz="2400"/>
              <a:t> Li. “</a:t>
            </a:r>
            <a:r>
              <a:rPr lang="pt-BR" sz="2400" err="1"/>
              <a:t>Effects</a:t>
            </a:r>
            <a:r>
              <a:rPr lang="pt-BR" sz="2400"/>
              <a:t> </a:t>
            </a:r>
            <a:r>
              <a:rPr lang="pt-BR" sz="2400" err="1"/>
              <a:t>of</a:t>
            </a:r>
            <a:r>
              <a:rPr lang="pt-BR" sz="2400"/>
              <a:t> </a:t>
            </a:r>
            <a:r>
              <a:rPr lang="pt-BR" sz="2400" err="1"/>
              <a:t>water</a:t>
            </a:r>
            <a:r>
              <a:rPr lang="pt-BR" sz="2400"/>
              <a:t> </a:t>
            </a:r>
            <a:r>
              <a:rPr lang="pt-BR" sz="2400" err="1"/>
              <a:t>application</a:t>
            </a:r>
            <a:r>
              <a:rPr lang="pt-BR" sz="2400"/>
              <a:t> </a:t>
            </a:r>
            <a:r>
              <a:rPr lang="pt-BR" sz="2400" err="1"/>
              <a:t>uniformity</a:t>
            </a:r>
            <a:r>
              <a:rPr lang="pt-BR" sz="2400"/>
              <a:t> </a:t>
            </a:r>
            <a:r>
              <a:rPr lang="pt-BR" sz="2400" err="1"/>
              <a:t>using</a:t>
            </a:r>
            <a:r>
              <a:rPr lang="pt-BR" sz="2400"/>
              <a:t> a center </a:t>
            </a:r>
            <a:r>
              <a:rPr lang="pt-BR" sz="2400" err="1"/>
              <a:t>pivot</a:t>
            </a:r>
            <a:r>
              <a:rPr lang="pt-BR" sz="2400"/>
              <a:t> </a:t>
            </a:r>
            <a:r>
              <a:rPr lang="pt-BR" sz="2400" err="1"/>
              <a:t>on</a:t>
            </a:r>
            <a:r>
              <a:rPr lang="pt-BR" sz="2400"/>
              <a:t> </a:t>
            </a:r>
            <a:r>
              <a:rPr lang="pt-BR" sz="2400" err="1"/>
              <a:t>winter</a:t>
            </a:r>
            <a:r>
              <a:rPr lang="pt-BR" sz="2400"/>
              <a:t> </a:t>
            </a:r>
            <a:r>
              <a:rPr lang="pt-BR" sz="2400" err="1"/>
              <a:t>wheat</a:t>
            </a:r>
            <a:r>
              <a:rPr lang="pt-BR" sz="2400"/>
              <a:t> </a:t>
            </a:r>
            <a:r>
              <a:rPr lang="pt-BR" sz="2400" err="1"/>
              <a:t>yield</a:t>
            </a:r>
            <a:r>
              <a:rPr lang="pt-BR" sz="2400"/>
              <a:t>, </a:t>
            </a:r>
            <a:r>
              <a:rPr lang="pt-BR" sz="2400" err="1"/>
              <a:t>water</a:t>
            </a:r>
            <a:r>
              <a:rPr lang="pt-BR" sz="2400"/>
              <a:t> </a:t>
            </a:r>
            <a:r>
              <a:rPr lang="pt-BR" sz="2400" err="1"/>
              <a:t>and</a:t>
            </a:r>
            <a:r>
              <a:rPr lang="pt-BR" sz="2400"/>
              <a:t> </a:t>
            </a:r>
            <a:r>
              <a:rPr lang="pt-BR" sz="2400" err="1"/>
              <a:t>nitrogen</a:t>
            </a:r>
            <a:r>
              <a:rPr lang="pt-BR" sz="2400"/>
              <a:t> use </a:t>
            </a:r>
            <a:r>
              <a:rPr lang="pt-BR" sz="2400" err="1"/>
              <a:t>efficiency</a:t>
            </a:r>
            <a:r>
              <a:rPr lang="pt-BR" sz="2400"/>
              <a:t> in </a:t>
            </a:r>
            <a:r>
              <a:rPr lang="pt-BR" sz="2400" err="1"/>
              <a:t>the</a:t>
            </a:r>
            <a:r>
              <a:rPr lang="pt-BR" sz="2400"/>
              <a:t> North China </a:t>
            </a:r>
            <a:r>
              <a:rPr lang="pt-BR" sz="2400" err="1"/>
              <a:t>Plain</a:t>
            </a:r>
            <a:r>
              <a:rPr lang="pt-BR" sz="2400"/>
              <a:t>”. </a:t>
            </a:r>
            <a:r>
              <a:rPr lang="pt-BR" sz="2400" i="1"/>
              <a:t>Em:</a:t>
            </a:r>
            <a:r>
              <a:rPr lang="pt-BR" sz="2400"/>
              <a:t> </a:t>
            </a:r>
            <a:r>
              <a:rPr lang="pt-BR" sz="2400" b="1" err="1"/>
              <a:t>Journal</a:t>
            </a:r>
            <a:r>
              <a:rPr lang="pt-BR" sz="2400" b="1"/>
              <a:t> </a:t>
            </a:r>
            <a:r>
              <a:rPr lang="pt-BR" sz="2400" b="1" err="1"/>
              <a:t>of</a:t>
            </a:r>
            <a:r>
              <a:rPr lang="pt-BR" sz="2400" b="1"/>
              <a:t> </a:t>
            </a:r>
            <a:r>
              <a:rPr lang="pt-BR" sz="2400" b="1" err="1"/>
              <a:t>Integrative</a:t>
            </a:r>
            <a:r>
              <a:rPr lang="pt-BR" sz="2400" b="1"/>
              <a:t> </a:t>
            </a:r>
            <a:r>
              <a:rPr lang="pt-BR" sz="2400" b="1" err="1"/>
              <a:t>Agriculture</a:t>
            </a:r>
            <a:r>
              <a:rPr lang="pt-BR" sz="2400"/>
              <a:t> 19.9 (2020), pp. 2326–2339. DOI: </a:t>
            </a:r>
            <a:r>
              <a:rPr lang="pt-BR" sz="2400" b="1"/>
              <a:t>10.1016/S2095-3119(19)62877-7</a:t>
            </a:r>
            <a:r>
              <a:rPr lang="pt-BR" sz="2400"/>
              <a:t>.</a:t>
            </a:r>
          </a:p>
          <a:p>
            <a:pPr marL="114300" indent="0">
              <a:buNone/>
            </a:pPr>
            <a:endParaRPr lang="en-US" sz="2400"/>
          </a:p>
          <a:p>
            <a:r>
              <a:rPr lang="pt-BR" sz="2400"/>
              <a:t>[4] </a:t>
            </a:r>
            <a:r>
              <a:rPr lang="pt-BR" sz="2400" err="1"/>
              <a:t>Liyuan</a:t>
            </a:r>
            <a:r>
              <a:rPr lang="pt-BR" sz="2400"/>
              <a:t> Zhang, </a:t>
            </a:r>
            <a:r>
              <a:rPr lang="pt-BR" sz="2400" err="1"/>
              <a:t>Huihui</a:t>
            </a:r>
            <a:r>
              <a:rPr lang="pt-BR" sz="2400"/>
              <a:t> Zhang, </a:t>
            </a:r>
            <a:r>
              <a:rPr lang="pt-BR" sz="2400" err="1"/>
              <a:t>Yaxiao</a:t>
            </a:r>
            <a:r>
              <a:rPr lang="pt-BR" sz="2400"/>
              <a:t> Niu e </a:t>
            </a:r>
            <a:r>
              <a:rPr lang="pt-BR" sz="2400" err="1"/>
              <a:t>Wenting</a:t>
            </a:r>
            <a:r>
              <a:rPr lang="pt-BR" sz="2400"/>
              <a:t> Han. “Mapping </a:t>
            </a:r>
            <a:r>
              <a:rPr lang="pt-BR" sz="2400" err="1"/>
              <a:t>Maize</a:t>
            </a:r>
            <a:r>
              <a:rPr lang="pt-BR" sz="2400"/>
              <a:t> </a:t>
            </a:r>
            <a:r>
              <a:rPr lang="pt-BR" sz="2400" err="1"/>
              <a:t>Water</a:t>
            </a:r>
            <a:r>
              <a:rPr lang="pt-BR" sz="2400"/>
              <a:t> Stress </a:t>
            </a:r>
            <a:r>
              <a:rPr lang="pt-BR" sz="2400" err="1"/>
              <a:t>Based</a:t>
            </a:r>
            <a:r>
              <a:rPr lang="pt-BR" sz="2400"/>
              <a:t> </a:t>
            </a:r>
            <a:r>
              <a:rPr lang="pt-BR" sz="2400" err="1"/>
              <a:t>on</a:t>
            </a:r>
            <a:r>
              <a:rPr lang="pt-BR" sz="2400"/>
              <a:t> UAV </a:t>
            </a:r>
            <a:r>
              <a:rPr lang="pt-BR" sz="2400" err="1"/>
              <a:t>Multispectral</a:t>
            </a:r>
            <a:r>
              <a:rPr lang="pt-BR" sz="2400"/>
              <a:t> Remote </a:t>
            </a:r>
            <a:r>
              <a:rPr lang="pt-BR" sz="2400" err="1"/>
              <a:t>Sensing</a:t>
            </a:r>
            <a:r>
              <a:rPr lang="pt-BR" sz="2400"/>
              <a:t>”. </a:t>
            </a:r>
            <a:r>
              <a:rPr lang="pt-BR" sz="2400" i="1"/>
              <a:t>Em:</a:t>
            </a:r>
            <a:r>
              <a:rPr lang="pt-BR" sz="2400"/>
              <a:t> </a:t>
            </a:r>
            <a:r>
              <a:rPr lang="pt-BR" sz="2400" b="1"/>
              <a:t>Remote </a:t>
            </a:r>
            <a:r>
              <a:rPr lang="pt-BR" sz="2400" b="1" err="1"/>
              <a:t>Sensing</a:t>
            </a:r>
            <a:r>
              <a:rPr lang="pt-BR" sz="2400"/>
              <a:t> 11.6 (2019). DOI: </a:t>
            </a:r>
            <a:r>
              <a:rPr lang="pt-BR" sz="2400" b="1"/>
              <a:t>10.3390/rs11060605</a:t>
            </a:r>
            <a:r>
              <a:rPr lang="pt-BR" sz="2400"/>
              <a:t>.</a:t>
            </a:r>
          </a:p>
          <a:p>
            <a:pPr marL="285750" indent="-28575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8245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/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pt-BR" sz="6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 sz="6600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Notes>18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4" baseType="lpstr">
      <vt:lpstr>Tema do Office</vt:lpstr>
      <vt:lpstr>TP546 – IoT e Redes Veiculares: Redes Veiculares com Drones para detecção de Estresse Hídrico</vt:lpstr>
      <vt:lpstr>Introdução</vt:lpstr>
      <vt:lpstr>Introdução</vt:lpstr>
      <vt:lpstr>Introdução</vt:lpstr>
      <vt:lpstr>Referencial Teórico </vt:lpstr>
      <vt:lpstr>Referencial Teórico</vt:lpstr>
      <vt:lpstr>Referencial Teórico</vt:lpstr>
      <vt:lpstr>Referencial Teórico</vt:lpstr>
      <vt:lpstr>Metodologia </vt:lpstr>
      <vt:lpstr>Metodologia – Arquitetura do Projeto</vt:lpstr>
      <vt:lpstr>Metodologia - Drones</vt:lpstr>
      <vt:lpstr>Metodologia - Pivôs</vt:lpstr>
      <vt:lpstr>Solução Tecnológica - Imagens Estresse Hídrico</vt:lpstr>
      <vt:lpstr>Segurança  </vt:lpstr>
      <vt:lpstr>Segurança - Desafios </vt:lpstr>
      <vt:lpstr>Segurança - Soluções Implementadas</vt:lpstr>
      <vt:lpstr>Resultados  </vt:lpstr>
      <vt:lpstr>Resultados</vt:lpstr>
      <vt:lpstr>Trabalhos Futuros  </vt:lpstr>
      <vt:lpstr>Trabalhos Futuros</vt:lpstr>
      <vt:lpstr>Apresentação do PowerPoint</vt:lpstr>
      <vt:lpstr>Referências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65</cp:revision>
  <dcterms:modified xsi:type="dcterms:W3CDTF">2025-11-30T13:17:40Z</dcterms:modified>
</cp:coreProperties>
</file>